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Arial Italics" charset="1" panose="020B060402020209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curb-parking-intelligence.vercel.app" TargetMode="External" Type="http://schemas.openxmlformats.org/officeDocument/2006/relationships/hyperlink"/><Relationship Id="rId5" Target="https://github.com/arpitraj18/curb-parking-intelligence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curb-parking-intelligence.vercel.app" TargetMode="External" Type="http://schemas.openxmlformats.org/officeDocument/2006/relationships/hyperlink"/><Relationship Id="rId5" Target="https://github.com/arpitraj18/curb-parking-intelligenc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1872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2C2519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64640" y="-82296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3A3225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23697"/>
            <a:ext cx="137160" cy="137160"/>
            <a:chOff x="0" y="0"/>
            <a:chExt cx="18288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465963"/>
            <a:ext cx="15087600" cy="438912"/>
            <a:chOff x="0" y="0"/>
            <a:chExt cx="20116800" cy="585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GRIDLOCK 2.0 · PROBLEM STATEMENT 1 · BENGALURU TRAFFIC POLICE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1514475"/>
            <a:ext cx="10972800" cy="2331720"/>
            <a:chOff x="0" y="0"/>
            <a:chExt cx="1463040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0" cy="3166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0"/>
                </a:lnSpc>
              </a:pPr>
              <a:r>
                <a:rPr lang="en-US" b="true" sz="16200" spc="900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  <a:r>
                <a:rPr lang="en-US" b="true" sz="16200" spc="900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</a:t>
              </a:r>
              <a:r>
                <a:rPr lang="en-US" b="true" sz="16200" spc="900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3503295"/>
            <a:ext cx="13716000" cy="685800"/>
            <a:chOff x="0" y="0"/>
            <a:chExt cx="18288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8288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 spc="150">
                  <a:solidFill>
                    <a:srgbClr val="FFD69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Curb Intelligence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32214" y="1649267"/>
            <a:ext cx="4527087" cy="1100410"/>
            <a:chOff x="0" y="0"/>
            <a:chExt cx="9386649" cy="22816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6649" cy="2281634"/>
            </a:xfrm>
            <a:custGeom>
              <a:avLst/>
              <a:gdLst/>
              <a:ahLst/>
              <a:cxnLst/>
              <a:rect r="r" b="b" t="t" l="l"/>
              <a:pathLst>
                <a:path h="2281634" w="9386649">
                  <a:moveTo>
                    <a:pt x="0" y="0"/>
                  </a:moveTo>
                  <a:lnTo>
                    <a:pt x="9386649" y="0"/>
                  </a:lnTo>
                  <a:lnTo>
                    <a:pt x="9386649" y="2281634"/>
                  </a:lnTo>
                  <a:lnTo>
                    <a:pt x="0" y="2281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742" r="-114312" b="-998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386649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 i="true">
                  <a:solidFill>
                    <a:srgbClr val="ECE1D4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From 13,782 hotspots to one decision.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868418"/>
            <a:ext cx="14813280" cy="822960"/>
            <a:chOff x="0" y="0"/>
            <a:chExt cx="1975104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751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97510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Root-cause intelligence for parking-induced congestion — built entirely from the provided enforcement dataset.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7280" y="6424803"/>
            <a:ext cx="10904220" cy="114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  <a:spcBef>
                <a:spcPct val="0"/>
              </a:spcBef>
            </a:pPr>
            <a:r>
              <a:rPr lang="en-US" b="true" sz="2510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CURB bridges the gap between raw enforcement data and urban planning, giving cities the power to cure congestion at the root, rather than just treating the symptoms.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280" y="8300150"/>
            <a:ext cx="786517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  <a:spcBef>
                <a:spcPct val="0"/>
              </a:spcBef>
            </a:pPr>
            <a:r>
              <a:rPr lang="en-US" sz="2538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Live Demo:</a:t>
            </a:r>
            <a:r>
              <a:rPr lang="en-US" sz="2538" u="sng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  <a:hlinkClick r:id="rId4" tooltip="https://curb-parking-intelligence.vercel.app"/>
              </a:rPr>
              <a:t> https://curb-parking-intelligence.vercel.app/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280" y="8934775"/>
            <a:ext cx="920918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  <a:spcBef>
                <a:spcPct val="0"/>
              </a:spcBef>
            </a:pPr>
            <a:r>
              <a:rPr lang="en-US" sz="2538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Repo Link</a:t>
            </a:r>
            <a:r>
              <a:rPr lang="en-US" sz="2538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38" u="sng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  <a:hlinkClick r:id="rId5" tooltip="https://github.com/arpitraj18/curb-parking-intelligence"/>
              </a:rPr>
              <a:t>https://github.com/arpitraj18/curb-parking-intelligence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21842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864108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1411605"/>
            <a:ext cx="164592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Enforcement data shows where — not what to do.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120" y="2139315"/>
            <a:ext cx="15910560" cy="822960"/>
            <a:chOff x="0" y="0"/>
            <a:chExt cx="212140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14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214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Officers get a flat list of violations. Planners get nothing prescriptive. The data records the symptom, not the diagnosis or the cure.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248025"/>
            <a:ext cx="5135118" cy="2615565"/>
            <a:chOff x="0" y="0"/>
            <a:chExt cx="6846824" cy="3487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46824" cy="3487420"/>
            </a:xfrm>
            <a:custGeom>
              <a:avLst/>
              <a:gdLst/>
              <a:ahLst/>
              <a:cxnLst/>
              <a:rect r="r" b="b" t="t" l="l"/>
              <a:pathLst>
                <a:path h="3487420" w="6846824">
                  <a:moveTo>
                    <a:pt x="0" y="108213"/>
                  </a:moveTo>
                  <a:cubicBezTo>
                    <a:pt x="0" y="48455"/>
                    <a:pt x="74041" y="0"/>
                    <a:pt x="165354" y="0"/>
                  </a:cubicBezTo>
                  <a:lnTo>
                    <a:pt x="6681470" y="0"/>
                  </a:lnTo>
                  <a:cubicBezTo>
                    <a:pt x="6772783" y="0"/>
                    <a:pt x="6846824" y="48455"/>
                    <a:pt x="6846824" y="108213"/>
                  </a:cubicBezTo>
                  <a:lnTo>
                    <a:pt x="6846824" y="3379207"/>
                  </a:lnTo>
                  <a:cubicBezTo>
                    <a:pt x="6846824" y="3438965"/>
                    <a:pt x="6772783" y="3487420"/>
                    <a:pt x="6681470" y="3487420"/>
                  </a:cubicBezTo>
                  <a:lnTo>
                    <a:pt x="165354" y="3487420"/>
                  </a:lnTo>
                  <a:cubicBezTo>
                    <a:pt x="74041" y="3487420"/>
                    <a:pt x="0" y="3438965"/>
                    <a:pt x="0" y="3379207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84744" y="3709606"/>
            <a:ext cx="878967" cy="878967"/>
            <a:chOff x="0" y="0"/>
            <a:chExt cx="1171956" cy="11719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2C2519"/>
            </a:solidFill>
            <a:ln w="28575" cap="sq">
              <a:solidFill>
                <a:srgbClr val="46C08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99032" y="3723894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46C0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68880" y="3806190"/>
            <a:ext cx="4238244" cy="685800"/>
            <a:chOff x="0" y="0"/>
            <a:chExt cx="5650992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50992" cy="914400"/>
            </a:xfrm>
            <a:custGeom>
              <a:avLst/>
              <a:gdLst/>
              <a:ahLst/>
              <a:cxnLst/>
              <a:rect r="r" b="b" t="t" l="l"/>
              <a:pathLst>
                <a:path h="91440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17" r="0" b="-7041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650992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Where fines happen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84744" y="4491990"/>
            <a:ext cx="4238244" cy="1371600"/>
            <a:chOff x="0" y="0"/>
            <a:chExt cx="5650992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50992" cy="1828800"/>
            </a:xfrm>
            <a:custGeom>
              <a:avLst/>
              <a:gdLst/>
              <a:ahLst/>
              <a:cxnLst/>
              <a:rect r="r" b="b" t="t" l="l"/>
              <a:pathLst>
                <a:path h="182880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08" r="0" b="-102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650992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The dataset captures this well — every violation is geo-tagged.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78143" y="3248025"/>
            <a:ext cx="5135118" cy="2615565"/>
            <a:chOff x="0" y="0"/>
            <a:chExt cx="6846824" cy="34874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46824" cy="3487420"/>
            </a:xfrm>
            <a:custGeom>
              <a:avLst/>
              <a:gdLst/>
              <a:ahLst/>
              <a:cxnLst/>
              <a:rect r="r" b="b" t="t" l="l"/>
              <a:pathLst>
                <a:path h="3487420" w="6846824">
                  <a:moveTo>
                    <a:pt x="0" y="108213"/>
                  </a:moveTo>
                  <a:cubicBezTo>
                    <a:pt x="0" y="48455"/>
                    <a:pt x="74041" y="0"/>
                    <a:pt x="165354" y="0"/>
                  </a:cubicBezTo>
                  <a:lnTo>
                    <a:pt x="6681470" y="0"/>
                  </a:lnTo>
                  <a:cubicBezTo>
                    <a:pt x="6772783" y="0"/>
                    <a:pt x="6846824" y="48455"/>
                    <a:pt x="6846824" y="108213"/>
                  </a:cubicBezTo>
                  <a:lnTo>
                    <a:pt x="6846824" y="3379207"/>
                  </a:lnTo>
                  <a:cubicBezTo>
                    <a:pt x="6846824" y="3438965"/>
                    <a:pt x="6772783" y="3487420"/>
                    <a:pt x="6681470" y="3487420"/>
                  </a:cubicBezTo>
                  <a:lnTo>
                    <a:pt x="165354" y="3487420"/>
                  </a:lnTo>
                  <a:cubicBezTo>
                    <a:pt x="74041" y="3487420"/>
                    <a:pt x="0" y="3438965"/>
                    <a:pt x="0" y="3379207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912293" y="3709606"/>
            <a:ext cx="878967" cy="878967"/>
            <a:chOff x="0" y="0"/>
            <a:chExt cx="1171956" cy="11719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2C2519"/>
            </a:solidFill>
            <a:ln w="28575" cap="sq">
              <a:solidFill>
                <a:srgbClr val="E5564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926580" y="3723894"/>
            <a:ext cx="850392" cy="850392"/>
            <a:chOff x="0" y="0"/>
            <a:chExt cx="1133856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E556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✗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000810" y="3698118"/>
            <a:ext cx="3800886" cy="901945"/>
            <a:chOff x="0" y="0"/>
            <a:chExt cx="5067848" cy="120259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67848" cy="1202593"/>
            </a:xfrm>
            <a:custGeom>
              <a:avLst/>
              <a:gdLst/>
              <a:ahLst/>
              <a:cxnLst/>
              <a:rect r="r" b="b" t="t" l="l"/>
              <a:pathLst>
                <a:path h="1202593" w="5067848">
                  <a:moveTo>
                    <a:pt x="0" y="0"/>
                  </a:moveTo>
                  <a:lnTo>
                    <a:pt x="5067848" y="0"/>
                  </a:lnTo>
                  <a:lnTo>
                    <a:pt x="5067848" y="1202593"/>
                  </a:lnTo>
                  <a:lnTo>
                    <a:pt x="0" y="1202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42" r="-11506" b="-2957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067848" cy="121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Which spots choke traffic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12293" y="4491990"/>
            <a:ext cx="4238244" cy="1371600"/>
            <a:chOff x="0" y="0"/>
            <a:chExt cx="5650992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50992" cy="1828800"/>
            </a:xfrm>
            <a:custGeom>
              <a:avLst/>
              <a:gdLst/>
              <a:ahLst/>
              <a:cxnLst/>
              <a:rect r="r" b="b" t="t" l="l"/>
              <a:pathLst>
                <a:path h="182880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08" r="0" b="-102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650992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No way to tell a minor street from a junction that strangles a corridor.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05691" y="3248025"/>
            <a:ext cx="5135118" cy="2615565"/>
            <a:chOff x="0" y="0"/>
            <a:chExt cx="6846824" cy="34874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6824" cy="3487420"/>
            </a:xfrm>
            <a:custGeom>
              <a:avLst/>
              <a:gdLst/>
              <a:ahLst/>
              <a:cxnLst/>
              <a:rect r="r" b="b" t="t" l="l"/>
              <a:pathLst>
                <a:path h="3487420" w="6846824">
                  <a:moveTo>
                    <a:pt x="0" y="108213"/>
                  </a:moveTo>
                  <a:cubicBezTo>
                    <a:pt x="0" y="48455"/>
                    <a:pt x="74041" y="0"/>
                    <a:pt x="165354" y="0"/>
                  </a:cubicBezTo>
                  <a:lnTo>
                    <a:pt x="6681470" y="0"/>
                  </a:lnTo>
                  <a:cubicBezTo>
                    <a:pt x="6772783" y="0"/>
                    <a:pt x="6846824" y="48455"/>
                    <a:pt x="6846824" y="108213"/>
                  </a:cubicBezTo>
                  <a:lnTo>
                    <a:pt x="6846824" y="3379207"/>
                  </a:lnTo>
                  <a:cubicBezTo>
                    <a:pt x="6846824" y="3438965"/>
                    <a:pt x="6772783" y="3487420"/>
                    <a:pt x="6681470" y="3487420"/>
                  </a:cubicBezTo>
                  <a:lnTo>
                    <a:pt x="165354" y="3487420"/>
                  </a:lnTo>
                  <a:cubicBezTo>
                    <a:pt x="74041" y="3487420"/>
                    <a:pt x="0" y="3438965"/>
                    <a:pt x="0" y="3379207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39840" y="3709606"/>
            <a:ext cx="878967" cy="878967"/>
            <a:chOff x="0" y="0"/>
            <a:chExt cx="1171956" cy="11719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71956" cy="1171956"/>
            </a:xfrm>
            <a:custGeom>
              <a:avLst/>
              <a:gdLst/>
              <a:ahLst/>
              <a:cxnLst/>
              <a:rect r="r" b="b" t="t" l="l"/>
              <a:pathLst>
                <a:path h="1171956" w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2C2519"/>
            </a:solidFill>
            <a:ln w="28575" cap="sq">
              <a:solidFill>
                <a:srgbClr val="E5564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454128" y="3723894"/>
            <a:ext cx="850392" cy="850392"/>
            <a:chOff x="0" y="0"/>
            <a:chExt cx="1133856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33856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E556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✗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8357" y="3806190"/>
            <a:ext cx="4238244" cy="685800"/>
            <a:chOff x="0" y="0"/>
            <a:chExt cx="5650992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50992" cy="914400"/>
            </a:xfrm>
            <a:custGeom>
              <a:avLst/>
              <a:gdLst/>
              <a:ahLst/>
              <a:cxnLst/>
              <a:rect r="r" b="b" t="t" l="l"/>
              <a:pathLst>
                <a:path h="91440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17" r="0" b="-704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650992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— and what fix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54128" y="4574286"/>
            <a:ext cx="4238244" cy="1371600"/>
            <a:chOff x="0" y="0"/>
            <a:chExt cx="5650992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50992" cy="1828800"/>
            </a:xfrm>
            <a:custGeom>
              <a:avLst/>
              <a:gdLst/>
              <a:ahLst/>
              <a:cxnLst/>
              <a:rect r="r" b="b" t="t" l="l"/>
              <a:pathLst>
                <a:path h="182880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08" r="0" b="-102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650992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No root cause, no prescribed intervention. “Send a patrol” everywhere.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" y="6684645"/>
            <a:ext cx="137160" cy="137160"/>
            <a:chOff x="0" y="0"/>
            <a:chExt cx="182880" cy="182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4440" y="6526911"/>
            <a:ext cx="15087600" cy="438912"/>
            <a:chOff x="0" y="0"/>
            <a:chExt cx="2011680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NOW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60120" y="7184898"/>
            <a:ext cx="164592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Standard patrols don't scale. Congestion is compounding.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50595" y="7899273"/>
            <a:ext cx="15636240" cy="1645920"/>
            <a:chOff x="0" y="0"/>
            <a:chExt cx="20848320" cy="2194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84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08483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Cities cannot enforce their way out of a structural deficit. With vehicle density soaring, trying to send traffic cops to every minor parking violation is a misallocation of highly skilled resources. We need surgical intervention, not blanket patrols.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10209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752475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INSIGHT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1381113"/>
            <a:ext cx="164592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Every illegal park is a </a:t>
            </a:r>
            <a:r>
              <a:rPr lang="en-US" sz="4500" b="true">
                <a:solidFill>
                  <a:srgbClr val="F5B544"/>
                </a:solidFill>
                <a:latin typeface="Arial Bold"/>
                <a:ea typeface="Arial Bold"/>
                <a:cs typeface="Arial Bold"/>
                <a:sym typeface="Arial Bold"/>
              </a:rPr>
              <a:t>demand signal</a:t>
            </a: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 for kerb space.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089773"/>
            <a:ext cx="15636240" cy="1234440"/>
            <a:chOff x="0" y="0"/>
            <a:chExt cx="2084832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8483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Someone needed to stop there and couldn’t legally. Read the violations as unmet demand, and each hotspot tells you what the kerb is being asked to do — and how to fix it.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400413"/>
            <a:ext cx="16478250" cy="1588093"/>
            <a:chOff x="0" y="0"/>
            <a:chExt cx="21971000" cy="2117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71000" cy="2117457"/>
            </a:xfrm>
            <a:custGeom>
              <a:avLst/>
              <a:gdLst/>
              <a:ahLst/>
              <a:cxnLst/>
              <a:rect r="r" b="b" t="t" l="l"/>
              <a:pathLst>
                <a:path h="2117457" w="21971000">
                  <a:moveTo>
                    <a:pt x="0" y="112136"/>
                  </a:moveTo>
                  <a:cubicBezTo>
                    <a:pt x="0" y="50191"/>
                    <a:pt x="74295" y="0"/>
                    <a:pt x="165989" y="0"/>
                  </a:cubicBezTo>
                  <a:lnTo>
                    <a:pt x="21805012" y="0"/>
                  </a:lnTo>
                  <a:cubicBezTo>
                    <a:pt x="21896705" y="0"/>
                    <a:pt x="21971000" y="50191"/>
                    <a:pt x="21971000" y="112136"/>
                  </a:cubicBezTo>
                  <a:lnTo>
                    <a:pt x="21971000" y="2005321"/>
                  </a:lnTo>
                  <a:cubicBezTo>
                    <a:pt x="21971000" y="2067266"/>
                    <a:pt x="21896705" y="2117457"/>
                    <a:pt x="21805012" y="2117457"/>
                  </a:cubicBezTo>
                  <a:lnTo>
                    <a:pt x="165989" y="2117457"/>
                  </a:lnTo>
                  <a:cubicBezTo>
                    <a:pt x="74295" y="2117457"/>
                    <a:pt x="0" y="2067266"/>
                    <a:pt x="0" y="200532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08760" y="3752838"/>
            <a:ext cx="15087600" cy="411480"/>
            <a:chOff x="0" y="0"/>
            <a:chExt cx="201168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0116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POSITIONING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08760" y="4213848"/>
            <a:ext cx="1536192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The enforcement layer already exists. </a:t>
            </a:r>
            <a:r>
              <a:rPr lang="en-US" sz="2700">
                <a:solidFill>
                  <a:srgbClr val="C7B8A2"/>
                </a:solidFill>
                <a:latin typeface="Arial"/>
                <a:ea typeface="Arial"/>
                <a:cs typeface="Arial"/>
                <a:sym typeface="Arial"/>
              </a:rPr>
              <a:t>We built the layer above it — root cause → differentiated fix.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9818" y="5527240"/>
            <a:ext cx="137160" cy="137160"/>
            <a:chOff x="0" y="0"/>
            <a:chExt cx="182880" cy="18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04138" y="5369506"/>
            <a:ext cx="15087600" cy="438912"/>
            <a:chOff x="0" y="0"/>
            <a:chExt cx="2011680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SOLUTION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6978" y="6017968"/>
            <a:ext cx="164592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Five steps from raw citations to a deployment decision.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4573" y="7018093"/>
            <a:ext cx="3132582" cy="2977527"/>
            <a:chOff x="0" y="0"/>
            <a:chExt cx="4176776" cy="39700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76776" cy="3970036"/>
            </a:xfrm>
            <a:custGeom>
              <a:avLst/>
              <a:gdLst/>
              <a:ahLst/>
              <a:cxnLst/>
              <a:rect r="r" b="b" t="t" l="l"/>
              <a:pathLst>
                <a:path h="3970036" w="4176776">
                  <a:moveTo>
                    <a:pt x="0" y="119284"/>
                  </a:moveTo>
                  <a:cubicBezTo>
                    <a:pt x="0" y="53422"/>
                    <a:pt x="74168" y="0"/>
                    <a:pt x="165608" y="0"/>
                  </a:cubicBezTo>
                  <a:lnTo>
                    <a:pt x="4011168" y="0"/>
                  </a:lnTo>
                  <a:cubicBezTo>
                    <a:pt x="4102608" y="0"/>
                    <a:pt x="4176776" y="53422"/>
                    <a:pt x="4176776" y="119284"/>
                  </a:cubicBezTo>
                  <a:lnTo>
                    <a:pt x="4176776" y="3850751"/>
                  </a:lnTo>
                  <a:cubicBezTo>
                    <a:pt x="4176776" y="3916614"/>
                    <a:pt x="4102608" y="3970036"/>
                    <a:pt x="4011168" y="3970036"/>
                  </a:cubicBezTo>
                  <a:lnTo>
                    <a:pt x="165608" y="3970036"/>
                  </a:lnTo>
                  <a:cubicBezTo>
                    <a:pt x="74168" y="3970036"/>
                    <a:pt x="0" y="3916614"/>
                    <a:pt x="0" y="385075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5865" y="7285819"/>
            <a:ext cx="905256" cy="869383"/>
            <a:chOff x="0" y="0"/>
            <a:chExt cx="1207008" cy="11591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7008" cy="1159177"/>
            </a:xfrm>
            <a:custGeom>
              <a:avLst/>
              <a:gdLst/>
              <a:ahLst/>
              <a:cxnLst/>
              <a:rect r="r" b="b" t="t" l="l"/>
              <a:pathLst>
                <a:path h="1159177" w="1207008">
                  <a:moveTo>
                    <a:pt x="0" y="579589"/>
                  </a:moveTo>
                  <a:cubicBezTo>
                    <a:pt x="0" y="259546"/>
                    <a:pt x="270256" y="0"/>
                    <a:pt x="603504" y="0"/>
                  </a:cubicBezTo>
                  <a:cubicBezTo>
                    <a:pt x="936752" y="0"/>
                    <a:pt x="1207008" y="259546"/>
                    <a:pt x="1207008" y="579589"/>
                  </a:cubicBezTo>
                  <a:cubicBezTo>
                    <a:pt x="1207008" y="899631"/>
                    <a:pt x="936752" y="1159177"/>
                    <a:pt x="603504" y="1159177"/>
                  </a:cubicBezTo>
                  <a:cubicBezTo>
                    <a:pt x="270256" y="1159177"/>
                    <a:pt x="0" y="899631"/>
                    <a:pt x="0" y="579589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95578" y="7341093"/>
            <a:ext cx="905256" cy="804583"/>
            <a:chOff x="0" y="0"/>
            <a:chExt cx="1207008" cy="10727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07008" cy="1072778"/>
            </a:xfrm>
            <a:custGeom>
              <a:avLst/>
              <a:gdLst/>
              <a:ahLst/>
              <a:cxnLst/>
              <a:rect r="r" b="b" t="t" l="l"/>
              <a:pathLst>
                <a:path h="107277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072778"/>
                  </a:lnTo>
                  <a:lnTo>
                    <a:pt x="0" y="107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1251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207008" cy="109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A1C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5578" y="8210476"/>
            <a:ext cx="2290572" cy="557752"/>
            <a:chOff x="0" y="0"/>
            <a:chExt cx="3054096" cy="7436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54096" cy="743669"/>
            </a:xfrm>
            <a:custGeom>
              <a:avLst/>
              <a:gdLst/>
              <a:ahLst/>
              <a:cxnLst/>
              <a:rect r="r" b="b" t="t" l="l"/>
              <a:pathLst>
                <a:path h="743669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" r="0" b="-353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054096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95578" y="8704444"/>
            <a:ext cx="2359152" cy="1086729"/>
            <a:chOff x="0" y="0"/>
            <a:chExt cx="3145536" cy="14489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5536" cy="1448971"/>
            </a:xfrm>
            <a:custGeom>
              <a:avLst/>
              <a:gdLst/>
              <a:ahLst/>
              <a:cxnLst/>
              <a:rect r="r" b="b" t="t" l="l"/>
              <a:pathLst>
                <a:path h="1448971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1448971"/>
                  </a:lnTo>
                  <a:lnTo>
                    <a:pt x="0" y="1448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54" t="0" r="-32054" b="-388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145536" cy="1468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Score every spot by obstruction impact.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42766" y="8161079"/>
            <a:ext cx="411480" cy="740494"/>
            <a:chOff x="0" y="0"/>
            <a:chExt cx="548640" cy="9873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" cy="987326"/>
            </a:xfrm>
            <a:custGeom>
              <a:avLst/>
              <a:gdLst/>
              <a:ahLst/>
              <a:cxnLst/>
              <a:rect r="r" b="b" t="t" l="l"/>
              <a:pathLst>
                <a:path h="98732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73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48640" cy="1015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D8F7C"/>
                  </a:solidFill>
                  <a:latin typeface="Arial"/>
                  <a:ea typeface="Arial"/>
                  <a:cs typeface="Arial"/>
                  <a:sym typeface="Arial"/>
                </a:rPr>
                <a:t>›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176141" y="7018093"/>
            <a:ext cx="3132582" cy="2977527"/>
            <a:chOff x="0" y="0"/>
            <a:chExt cx="4176776" cy="39700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76776" cy="3970036"/>
            </a:xfrm>
            <a:custGeom>
              <a:avLst/>
              <a:gdLst/>
              <a:ahLst/>
              <a:cxnLst/>
              <a:rect r="r" b="b" t="t" l="l"/>
              <a:pathLst>
                <a:path h="3970036" w="4176776">
                  <a:moveTo>
                    <a:pt x="0" y="119284"/>
                  </a:moveTo>
                  <a:cubicBezTo>
                    <a:pt x="0" y="53422"/>
                    <a:pt x="74168" y="0"/>
                    <a:pt x="165608" y="0"/>
                  </a:cubicBezTo>
                  <a:lnTo>
                    <a:pt x="4011168" y="0"/>
                  </a:lnTo>
                  <a:cubicBezTo>
                    <a:pt x="4102608" y="0"/>
                    <a:pt x="4176776" y="53422"/>
                    <a:pt x="4176776" y="119284"/>
                  </a:cubicBezTo>
                  <a:lnTo>
                    <a:pt x="4176776" y="3850751"/>
                  </a:lnTo>
                  <a:cubicBezTo>
                    <a:pt x="4176776" y="3916614"/>
                    <a:pt x="4102608" y="3970036"/>
                    <a:pt x="4011168" y="3970036"/>
                  </a:cubicBezTo>
                  <a:lnTo>
                    <a:pt x="165608" y="3970036"/>
                  </a:lnTo>
                  <a:cubicBezTo>
                    <a:pt x="74168" y="3970036"/>
                    <a:pt x="0" y="3916614"/>
                    <a:pt x="0" y="385075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597146" y="7308693"/>
            <a:ext cx="905256" cy="869383"/>
            <a:chOff x="0" y="0"/>
            <a:chExt cx="1207008" cy="11591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07008" cy="1159177"/>
            </a:xfrm>
            <a:custGeom>
              <a:avLst/>
              <a:gdLst/>
              <a:ahLst/>
              <a:cxnLst/>
              <a:rect r="r" b="b" t="t" l="l"/>
              <a:pathLst>
                <a:path h="1159177" w="1207008">
                  <a:moveTo>
                    <a:pt x="0" y="579589"/>
                  </a:moveTo>
                  <a:cubicBezTo>
                    <a:pt x="0" y="259546"/>
                    <a:pt x="270256" y="0"/>
                    <a:pt x="603504" y="0"/>
                  </a:cubicBezTo>
                  <a:cubicBezTo>
                    <a:pt x="936752" y="0"/>
                    <a:pt x="1207008" y="259546"/>
                    <a:pt x="1207008" y="579589"/>
                  </a:cubicBezTo>
                  <a:cubicBezTo>
                    <a:pt x="1207008" y="899631"/>
                    <a:pt x="936752" y="1159177"/>
                    <a:pt x="603504" y="1159177"/>
                  </a:cubicBezTo>
                  <a:cubicBezTo>
                    <a:pt x="270256" y="1159177"/>
                    <a:pt x="0" y="899631"/>
                    <a:pt x="0" y="579589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597146" y="7341093"/>
            <a:ext cx="905256" cy="804583"/>
            <a:chOff x="0" y="0"/>
            <a:chExt cx="1207008" cy="10727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07008" cy="1072778"/>
            </a:xfrm>
            <a:custGeom>
              <a:avLst/>
              <a:gdLst/>
              <a:ahLst/>
              <a:cxnLst/>
              <a:rect r="r" b="b" t="t" l="l"/>
              <a:pathLst>
                <a:path h="107277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072778"/>
                  </a:lnTo>
                  <a:lnTo>
                    <a:pt x="0" y="107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125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207008" cy="109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A1C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597146" y="8210476"/>
            <a:ext cx="2290572" cy="557752"/>
            <a:chOff x="0" y="0"/>
            <a:chExt cx="3054096" cy="7436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54096" cy="743669"/>
            </a:xfrm>
            <a:custGeom>
              <a:avLst/>
              <a:gdLst/>
              <a:ahLst/>
              <a:cxnLst/>
              <a:rect r="r" b="b" t="t" l="l"/>
              <a:pathLst>
                <a:path h="743669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" r="0" b="-353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054096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Classify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597146" y="8704444"/>
            <a:ext cx="2359152" cy="1086729"/>
            <a:chOff x="0" y="0"/>
            <a:chExt cx="3145536" cy="14489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45536" cy="1448971"/>
            </a:xfrm>
            <a:custGeom>
              <a:avLst/>
              <a:gdLst/>
              <a:ahLst/>
              <a:cxnLst/>
              <a:rect r="r" b="b" t="t" l="l"/>
              <a:pathLst>
                <a:path h="1448971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1448971"/>
                  </a:lnTo>
                  <a:lnTo>
                    <a:pt x="0" y="1448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54" t="0" r="-32054" b="-388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145536" cy="1468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Infer root cause from the vehicle mix.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244334" y="8161079"/>
            <a:ext cx="411480" cy="740494"/>
            <a:chOff x="0" y="0"/>
            <a:chExt cx="548640" cy="9873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987326"/>
            </a:xfrm>
            <a:custGeom>
              <a:avLst/>
              <a:gdLst/>
              <a:ahLst/>
              <a:cxnLst/>
              <a:rect r="r" b="b" t="t" l="l"/>
              <a:pathLst>
                <a:path h="98732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738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48640" cy="1015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D8F7C"/>
                  </a:solidFill>
                  <a:latin typeface="Arial"/>
                  <a:ea typeface="Arial"/>
                  <a:cs typeface="Arial"/>
                  <a:sym typeface="Arial"/>
                </a:rPr>
                <a:t>›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577709" y="7018093"/>
            <a:ext cx="3132582" cy="2977527"/>
            <a:chOff x="0" y="0"/>
            <a:chExt cx="4176776" cy="39700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76776" cy="3970036"/>
            </a:xfrm>
            <a:custGeom>
              <a:avLst/>
              <a:gdLst/>
              <a:ahLst/>
              <a:cxnLst/>
              <a:rect r="r" b="b" t="t" l="l"/>
              <a:pathLst>
                <a:path h="3970036" w="4176776">
                  <a:moveTo>
                    <a:pt x="0" y="119284"/>
                  </a:moveTo>
                  <a:cubicBezTo>
                    <a:pt x="0" y="53422"/>
                    <a:pt x="74168" y="0"/>
                    <a:pt x="165608" y="0"/>
                  </a:cubicBezTo>
                  <a:lnTo>
                    <a:pt x="4011168" y="0"/>
                  </a:lnTo>
                  <a:cubicBezTo>
                    <a:pt x="4102608" y="0"/>
                    <a:pt x="4176776" y="53422"/>
                    <a:pt x="4176776" y="119284"/>
                  </a:cubicBezTo>
                  <a:lnTo>
                    <a:pt x="4176776" y="3850751"/>
                  </a:lnTo>
                  <a:cubicBezTo>
                    <a:pt x="4176776" y="3916614"/>
                    <a:pt x="4102608" y="3970036"/>
                    <a:pt x="4011168" y="3970036"/>
                  </a:cubicBezTo>
                  <a:lnTo>
                    <a:pt x="165608" y="3970036"/>
                  </a:lnTo>
                  <a:cubicBezTo>
                    <a:pt x="74168" y="3970036"/>
                    <a:pt x="0" y="3916614"/>
                    <a:pt x="0" y="385075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998714" y="7299168"/>
            <a:ext cx="905256" cy="869383"/>
            <a:chOff x="0" y="0"/>
            <a:chExt cx="1207008" cy="115917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07008" cy="1159177"/>
            </a:xfrm>
            <a:custGeom>
              <a:avLst/>
              <a:gdLst/>
              <a:ahLst/>
              <a:cxnLst/>
              <a:rect r="r" b="b" t="t" l="l"/>
              <a:pathLst>
                <a:path h="1159177" w="1207008">
                  <a:moveTo>
                    <a:pt x="0" y="579589"/>
                  </a:moveTo>
                  <a:cubicBezTo>
                    <a:pt x="0" y="259546"/>
                    <a:pt x="270256" y="0"/>
                    <a:pt x="603504" y="0"/>
                  </a:cubicBezTo>
                  <a:cubicBezTo>
                    <a:pt x="936752" y="0"/>
                    <a:pt x="1207008" y="259546"/>
                    <a:pt x="1207008" y="579589"/>
                  </a:cubicBezTo>
                  <a:cubicBezTo>
                    <a:pt x="1207008" y="899631"/>
                    <a:pt x="936752" y="1159177"/>
                    <a:pt x="603504" y="1159177"/>
                  </a:cubicBezTo>
                  <a:cubicBezTo>
                    <a:pt x="270256" y="1159177"/>
                    <a:pt x="0" y="899631"/>
                    <a:pt x="0" y="579589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998714" y="7341093"/>
            <a:ext cx="905256" cy="804583"/>
            <a:chOff x="0" y="0"/>
            <a:chExt cx="1207008" cy="107277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07008" cy="1072778"/>
            </a:xfrm>
            <a:custGeom>
              <a:avLst/>
              <a:gdLst/>
              <a:ahLst/>
              <a:cxnLst/>
              <a:rect r="r" b="b" t="t" l="l"/>
              <a:pathLst>
                <a:path h="1072778" w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072778"/>
                  </a:lnTo>
                  <a:lnTo>
                    <a:pt x="0" y="107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-125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207008" cy="109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A1C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998714" y="8210476"/>
            <a:ext cx="2290572" cy="557752"/>
            <a:chOff x="0" y="0"/>
            <a:chExt cx="3054096" cy="7436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54096" cy="743669"/>
            </a:xfrm>
            <a:custGeom>
              <a:avLst/>
              <a:gdLst/>
              <a:ahLst/>
              <a:cxnLst/>
              <a:rect r="r" b="b" t="t" l="l"/>
              <a:pathLst>
                <a:path h="743669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" r="0" b="-353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3054096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Prescribe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998714" y="8704444"/>
            <a:ext cx="2359152" cy="1086729"/>
            <a:chOff x="0" y="0"/>
            <a:chExt cx="3145536" cy="14489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45536" cy="1448971"/>
            </a:xfrm>
            <a:custGeom>
              <a:avLst/>
              <a:gdLst/>
              <a:ahLst/>
              <a:cxnLst/>
              <a:rect r="r" b="b" t="t" l="l"/>
              <a:pathLst>
                <a:path h="1448971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1448971"/>
                  </a:lnTo>
                  <a:lnTo>
                    <a:pt x="0" y="1448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54" t="0" r="-32054" b="-388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3145536" cy="1468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Map each cause to a specific fix.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645902" y="8161079"/>
            <a:ext cx="411480" cy="740494"/>
            <a:chOff x="0" y="0"/>
            <a:chExt cx="548640" cy="98732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48640" cy="987326"/>
            </a:xfrm>
            <a:custGeom>
              <a:avLst/>
              <a:gdLst/>
              <a:ahLst/>
              <a:cxnLst/>
              <a:rect r="r" b="b" t="t" l="l"/>
              <a:pathLst>
                <a:path h="98732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738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548640" cy="1015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D8F7C"/>
                  </a:solidFill>
                  <a:latin typeface="Arial"/>
                  <a:ea typeface="Arial"/>
                  <a:cs typeface="Arial"/>
                  <a:sym typeface="Arial"/>
                </a:rPr>
                <a:t>›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979277" y="7018093"/>
            <a:ext cx="3132582" cy="2977527"/>
            <a:chOff x="0" y="0"/>
            <a:chExt cx="4176776" cy="39700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76776" cy="3970036"/>
            </a:xfrm>
            <a:custGeom>
              <a:avLst/>
              <a:gdLst/>
              <a:ahLst/>
              <a:cxnLst/>
              <a:rect r="r" b="b" t="t" l="l"/>
              <a:pathLst>
                <a:path h="3970036" w="4176776">
                  <a:moveTo>
                    <a:pt x="0" y="119284"/>
                  </a:moveTo>
                  <a:cubicBezTo>
                    <a:pt x="0" y="53422"/>
                    <a:pt x="74168" y="0"/>
                    <a:pt x="165608" y="0"/>
                  </a:cubicBezTo>
                  <a:lnTo>
                    <a:pt x="4011168" y="0"/>
                  </a:lnTo>
                  <a:cubicBezTo>
                    <a:pt x="4102608" y="0"/>
                    <a:pt x="4176776" y="53422"/>
                    <a:pt x="4176776" y="119284"/>
                  </a:cubicBezTo>
                  <a:lnTo>
                    <a:pt x="4176776" y="3850751"/>
                  </a:lnTo>
                  <a:cubicBezTo>
                    <a:pt x="4176776" y="3916614"/>
                    <a:pt x="4102608" y="3970036"/>
                    <a:pt x="4011168" y="3970036"/>
                  </a:cubicBezTo>
                  <a:lnTo>
                    <a:pt x="165608" y="3970036"/>
                  </a:lnTo>
                  <a:cubicBezTo>
                    <a:pt x="74168" y="3970036"/>
                    <a:pt x="0" y="3916614"/>
                    <a:pt x="0" y="385075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335860" y="7308693"/>
            <a:ext cx="905256" cy="869383"/>
            <a:chOff x="0" y="0"/>
            <a:chExt cx="1207008" cy="115917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07008" cy="1159177"/>
            </a:xfrm>
            <a:custGeom>
              <a:avLst/>
              <a:gdLst/>
              <a:ahLst/>
              <a:cxnLst/>
              <a:rect r="r" b="b" t="t" l="l"/>
              <a:pathLst>
                <a:path h="1159177" w="1207008">
                  <a:moveTo>
                    <a:pt x="0" y="579589"/>
                  </a:moveTo>
                  <a:cubicBezTo>
                    <a:pt x="0" y="259546"/>
                    <a:pt x="270256" y="0"/>
                    <a:pt x="603504" y="0"/>
                  </a:cubicBezTo>
                  <a:cubicBezTo>
                    <a:pt x="936752" y="0"/>
                    <a:pt x="1207008" y="259546"/>
                    <a:pt x="1207008" y="579589"/>
                  </a:cubicBezTo>
                  <a:cubicBezTo>
                    <a:pt x="1207008" y="899631"/>
                    <a:pt x="936752" y="1159177"/>
                    <a:pt x="603504" y="1159177"/>
                  </a:cubicBezTo>
                  <a:cubicBezTo>
                    <a:pt x="270256" y="1159177"/>
                    <a:pt x="0" y="899631"/>
                    <a:pt x="0" y="579589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400282" y="7341093"/>
            <a:ext cx="776411" cy="804583"/>
            <a:chOff x="0" y="0"/>
            <a:chExt cx="1035215" cy="107277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35215" cy="1072778"/>
            </a:xfrm>
            <a:custGeom>
              <a:avLst/>
              <a:gdLst/>
              <a:ahLst/>
              <a:cxnLst/>
              <a:rect r="r" b="b" t="t" l="l"/>
              <a:pathLst>
                <a:path h="1072778" w="1035215">
                  <a:moveTo>
                    <a:pt x="0" y="0"/>
                  </a:moveTo>
                  <a:lnTo>
                    <a:pt x="1035215" y="0"/>
                  </a:lnTo>
                  <a:lnTo>
                    <a:pt x="1035215" y="1072778"/>
                  </a:lnTo>
                  <a:lnTo>
                    <a:pt x="0" y="107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297" t="0" r="-107892" b="-1251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035215" cy="109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A1C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400282" y="8210476"/>
            <a:ext cx="2290572" cy="557752"/>
            <a:chOff x="0" y="0"/>
            <a:chExt cx="3054096" cy="7436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54096" cy="743669"/>
            </a:xfrm>
            <a:custGeom>
              <a:avLst/>
              <a:gdLst/>
              <a:ahLst/>
              <a:cxnLst/>
              <a:rect r="r" b="b" t="t" l="l"/>
              <a:pathLst>
                <a:path h="743669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" r="0" b="-3535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054096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Narrow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400282" y="8704444"/>
            <a:ext cx="2359152" cy="1086729"/>
            <a:chOff x="0" y="0"/>
            <a:chExt cx="3145536" cy="144897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45536" cy="1448971"/>
            </a:xfrm>
            <a:custGeom>
              <a:avLst/>
              <a:gdLst/>
              <a:ahLst/>
              <a:cxnLst/>
              <a:rect r="r" b="b" t="t" l="l"/>
              <a:pathLst>
                <a:path h="1448971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1448971"/>
                  </a:lnTo>
                  <a:lnTo>
                    <a:pt x="0" y="1448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54" t="0" r="-32054" b="-3883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3145536" cy="1468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13,782 → the one to act on first.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47470" y="8161079"/>
            <a:ext cx="411480" cy="740494"/>
            <a:chOff x="0" y="0"/>
            <a:chExt cx="548640" cy="98732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8640" cy="987326"/>
            </a:xfrm>
            <a:custGeom>
              <a:avLst/>
              <a:gdLst/>
              <a:ahLst/>
              <a:cxnLst/>
              <a:rect r="r" b="b" t="t" l="l"/>
              <a:pathLst>
                <a:path h="987326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738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548640" cy="1015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D8F7C"/>
                  </a:solidFill>
                  <a:latin typeface="Arial"/>
                  <a:ea typeface="Arial"/>
                  <a:cs typeface="Arial"/>
                  <a:sym typeface="Arial"/>
                </a:rPr>
                <a:t>›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380845" y="7018093"/>
            <a:ext cx="3132582" cy="2977527"/>
            <a:chOff x="0" y="0"/>
            <a:chExt cx="4176776" cy="39700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76776" cy="3970036"/>
            </a:xfrm>
            <a:custGeom>
              <a:avLst/>
              <a:gdLst/>
              <a:ahLst/>
              <a:cxnLst/>
              <a:rect r="r" b="b" t="t" l="l"/>
              <a:pathLst>
                <a:path h="3970036" w="4176776">
                  <a:moveTo>
                    <a:pt x="0" y="119284"/>
                  </a:moveTo>
                  <a:cubicBezTo>
                    <a:pt x="0" y="53422"/>
                    <a:pt x="74168" y="0"/>
                    <a:pt x="165608" y="0"/>
                  </a:cubicBezTo>
                  <a:lnTo>
                    <a:pt x="4011168" y="0"/>
                  </a:lnTo>
                  <a:cubicBezTo>
                    <a:pt x="4102608" y="0"/>
                    <a:pt x="4176776" y="53422"/>
                    <a:pt x="4176776" y="119284"/>
                  </a:cubicBezTo>
                  <a:lnTo>
                    <a:pt x="4176776" y="3850751"/>
                  </a:lnTo>
                  <a:cubicBezTo>
                    <a:pt x="4176776" y="3916614"/>
                    <a:pt x="4102608" y="3970036"/>
                    <a:pt x="4011168" y="3970036"/>
                  </a:cubicBezTo>
                  <a:lnTo>
                    <a:pt x="165608" y="3970036"/>
                  </a:lnTo>
                  <a:cubicBezTo>
                    <a:pt x="74168" y="3970036"/>
                    <a:pt x="0" y="3916614"/>
                    <a:pt x="0" y="385075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4782800" y="7285819"/>
            <a:ext cx="905256" cy="869383"/>
            <a:chOff x="0" y="0"/>
            <a:chExt cx="1207008" cy="115917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07008" cy="1159177"/>
            </a:xfrm>
            <a:custGeom>
              <a:avLst/>
              <a:gdLst/>
              <a:ahLst/>
              <a:cxnLst/>
              <a:rect r="r" b="b" t="t" l="l"/>
              <a:pathLst>
                <a:path h="1159177" w="1207008">
                  <a:moveTo>
                    <a:pt x="0" y="579589"/>
                  </a:moveTo>
                  <a:cubicBezTo>
                    <a:pt x="0" y="259546"/>
                    <a:pt x="270256" y="0"/>
                    <a:pt x="603504" y="0"/>
                  </a:cubicBezTo>
                  <a:cubicBezTo>
                    <a:pt x="936752" y="0"/>
                    <a:pt x="1207008" y="259546"/>
                    <a:pt x="1207008" y="579589"/>
                  </a:cubicBezTo>
                  <a:cubicBezTo>
                    <a:pt x="1207008" y="899631"/>
                    <a:pt x="936752" y="1159177"/>
                    <a:pt x="603504" y="1159177"/>
                  </a:cubicBezTo>
                  <a:cubicBezTo>
                    <a:pt x="270256" y="1159177"/>
                    <a:pt x="0" y="899631"/>
                    <a:pt x="0" y="579589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801850" y="7341093"/>
            <a:ext cx="824938" cy="804583"/>
            <a:chOff x="0" y="0"/>
            <a:chExt cx="1099918" cy="107277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9918" cy="1072778"/>
            </a:xfrm>
            <a:custGeom>
              <a:avLst/>
              <a:gdLst/>
              <a:ahLst/>
              <a:cxnLst/>
              <a:rect r="r" b="b" t="t" l="l"/>
              <a:pathLst>
                <a:path h="1072778" w="1099918">
                  <a:moveTo>
                    <a:pt x="0" y="0"/>
                  </a:moveTo>
                  <a:lnTo>
                    <a:pt x="1099918" y="0"/>
                  </a:lnTo>
                  <a:lnTo>
                    <a:pt x="1099918" y="1072778"/>
                  </a:lnTo>
                  <a:lnTo>
                    <a:pt x="0" y="10727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927" t="0" r="-95663" b="-1251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099918" cy="1091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A1C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801850" y="8210476"/>
            <a:ext cx="2290572" cy="557752"/>
            <a:chOff x="0" y="0"/>
            <a:chExt cx="3054096" cy="74366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54096" cy="743669"/>
            </a:xfrm>
            <a:custGeom>
              <a:avLst/>
              <a:gdLst/>
              <a:ahLst/>
              <a:cxnLst/>
              <a:rect r="r" b="b" t="t" l="l"/>
              <a:pathLst>
                <a:path h="743669" w="3054096">
                  <a:moveTo>
                    <a:pt x="0" y="0"/>
                  </a:moveTo>
                  <a:lnTo>
                    <a:pt x="3054096" y="0"/>
                  </a:lnTo>
                  <a:lnTo>
                    <a:pt x="3054096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89" r="0" b="-3535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054096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801850" y="8704444"/>
            <a:ext cx="2359152" cy="1086729"/>
            <a:chOff x="0" y="0"/>
            <a:chExt cx="3145536" cy="144897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45536" cy="1448971"/>
            </a:xfrm>
            <a:custGeom>
              <a:avLst/>
              <a:gdLst/>
              <a:ahLst/>
              <a:cxnLst/>
              <a:rect r="r" b="b" t="t" l="l"/>
              <a:pathLst>
                <a:path h="1448971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1448971"/>
                  </a:lnTo>
                  <a:lnTo>
                    <a:pt x="0" y="1448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54" t="0" r="-32054" b="-3883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3145536" cy="1468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Group the top spots by action needed.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9887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462153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PROOF OF CONCEPT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1009650"/>
            <a:ext cx="1645920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One provided dataset. No external 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0555" y="2047875"/>
            <a:ext cx="3941826" cy="1998534"/>
            <a:chOff x="0" y="0"/>
            <a:chExt cx="5255768" cy="2664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5768" cy="2664712"/>
            </a:xfrm>
            <a:custGeom>
              <a:avLst/>
              <a:gdLst/>
              <a:ahLst/>
              <a:cxnLst/>
              <a:rect r="r" b="b" t="t" l="l"/>
              <a:pathLst>
                <a:path h="2664712" w="5255768">
                  <a:moveTo>
                    <a:pt x="0" y="126274"/>
                  </a:moveTo>
                  <a:cubicBezTo>
                    <a:pt x="0" y="56466"/>
                    <a:pt x="74168" y="0"/>
                    <a:pt x="165862" y="0"/>
                  </a:cubicBezTo>
                  <a:lnTo>
                    <a:pt x="5089906" y="0"/>
                  </a:lnTo>
                  <a:cubicBezTo>
                    <a:pt x="5181473" y="0"/>
                    <a:pt x="5255768" y="56466"/>
                    <a:pt x="5255768" y="126274"/>
                  </a:cubicBezTo>
                  <a:lnTo>
                    <a:pt x="5255768" y="2538438"/>
                  </a:lnTo>
                  <a:cubicBezTo>
                    <a:pt x="5255768" y="2608150"/>
                    <a:pt x="5181600" y="2664712"/>
                    <a:pt x="5089906" y="2664712"/>
                  </a:cubicBezTo>
                  <a:lnTo>
                    <a:pt x="165862" y="2664712"/>
                  </a:lnTo>
                  <a:cubicBezTo>
                    <a:pt x="74168" y="2664712"/>
                    <a:pt x="0" y="2608246"/>
                    <a:pt x="0" y="2538438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3292" y="2062174"/>
            <a:ext cx="1916351" cy="1298246"/>
            <a:chOff x="0" y="0"/>
            <a:chExt cx="2555135" cy="17309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5135" cy="1730995"/>
            </a:xfrm>
            <a:custGeom>
              <a:avLst/>
              <a:gdLst/>
              <a:ahLst/>
              <a:cxnLst/>
              <a:rect r="r" b="b" t="t" l="l"/>
              <a:pathLst>
                <a:path h="1730995" w="2555135">
                  <a:moveTo>
                    <a:pt x="0" y="0"/>
                  </a:moveTo>
                  <a:lnTo>
                    <a:pt x="2555135" y="0"/>
                  </a:lnTo>
                  <a:lnTo>
                    <a:pt x="2555135" y="1730995"/>
                  </a:lnTo>
                  <a:lnTo>
                    <a:pt x="0" y="1730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" r="-61756" b="857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555135" cy="1750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298K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4227" y="3086100"/>
            <a:ext cx="3099816" cy="617220"/>
            <a:chOff x="0" y="0"/>
            <a:chExt cx="4133088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33088" cy="822960"/>
            </a:xfrm>
            <a:custGeom>
              <a:avLst/>
              <a:gdLst/>
              <a:ahLst/>
              <a:cxnLst/>
              <a:rect r="r" b="b" t="t" l="l"/>
              <a:pathLst>
                <a:path h="822960" w="4133088">
                  <a:moveTo>
                    <a:pt x="0" y="0"/>
                  </a:moveTo>
                  <a:lnTo>
                    <a:pt x="4133088" y="0"/>
                  </a:lnTo>
                  <a:lnTo>
                    <a:pt x="413308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58" r="0" b="-478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133088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VIOLATION RECORDS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92243" y="2047875"/>
            <a:ext cx="3941826" cy="1998534"/>
            <a:chOff x="0" y="0"/>
            <a:chExt cx="5255768" cy="2664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5768" cy="2664712"/>
            </a:xfrm>
            <a:custGeom>
              <a:avLst/>
              <a:gdLst/>
              <a:ahLst/>
              <a:cxnLst/>
              <a:rect r="r" b="b" t="t" l="l"/>
              <a:pathLst>
                <a:path h="2664712" w="5255768">
                  <a:moveTo>
                    <a:pt x="0" y="126274"/>
                  </a:moveTo>
                  <a:cubicBezTo>
                    <a:pt x="0" y="56466"/>
                    <a:pt x="74168" y="0"/>
                    <a:pt x="165862" y="0"/>
                  </a:cubicBezTo>
                  <a:lnTo>
                    <a:pt x="5089906" y="0"/>
                  </a:lnTo>
                  <a:cubicBezTo>
                    <a:pt x="5181473" y="0"/>
                    <a:pt x="5255768" y="56466"/>
                    <a:pt x="5255768" y="126274"/>
                  </a:cubicBezTo>
                  <a:lnTo>
                    <a:pt x="5255768" y="2538438"/>
                  </a:lnTo>
                  <a:cubicBezTo>
                    <a:pt x="5255768" y="2608150"/>
                    <a:pt x="5181600" y="2664712"/>
                    <a:pt x="5089906" y="2664712"/>
                  </a:cubicBezTo>
                  <a:lnTo>
                    <a:pt x="165862" y="2664712"/>
                  </a:lnTo>
                  <a:cubicBezTo>
                    <a:pt x="74168" y="2664712"/>
                    <a:pt x="0" y="2608246"/>
                    <a:pt x="0" y="2538438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931927" y="2047875"/>
            <a:ext cx="2062458" cy="1298246"/>
            <a:chOff x="0" y="0"/>
            <a:chExt cx="2749944" cy="17309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9944" cy="1730995"/>
            </a:xfrm>
            <a:custGeom>
              <a:avLst/>
              <a:gdLst/>
              <a:ahLst/>
              <a:cxnLst/>
              <a:rect r="r" b="b" t="t" l="l"/>
              <a:pathLst>
                <a:path h="1730995" w="2749944">
                  <a:moveTo>
                    <a:pt x="0" y="0"/>
                  </a:moveTo>
                  <a:lnTo>
                    <a:pt x="2749944" y="0"/>
                  </a:lnTo>
                  <a:lnTo>
                    <a:pt x="2749944" y="1730995"/>
                  </a:lnTo>
                  <a:lnTo>
                    <a:pt x="0" y="1730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" r="-50297" b="85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749944" cy="1750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70728" y="3086100"/>
            <a:ext cx="1784855" cy="617220"/>
            <a:chOff x="0" y="0"/>
            <a:chExt cx="2379807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9807" cy="822960"/>
            </a:xfrm>
            <a:custGeom>
              <a:avLst/>
              <a:gdLst/>
              <a:ahLst/>
              <a:cxnLst/>
              <a:rect r="r" b="b" t="t" l="l"/>
              <a:pathLst>
                <a:path h="822960" w="2379807">
                  <a:moveTo>
                    <a:pt x="0" y="0"/>
                  </a:moveTo>
                  <a:lnTo>
                    <a:pt x="2379807" y="0"/>
                  </a:lnTo>
                  <a:lnTo>
                    <a:pt x="2379807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58" r="-73673" b="-478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379807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GEO-TAGGED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53931" y="2047875"/>
            <a:ext cx="3941826" cy="1998534"/>
            <a:chOff x="0" y="0"/>
            <a:chExt cx="5255768" cy="26647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55768" cy="2664712"/>
            </a:xfrm>
            <a:custGeom>
              <a:avLst/>
              <a:gdLst/>
              <a:ahLst/>
              <a:cxnLst/>
              <a:rect r="r" b="b" t="t" l="l"/>
              <a:pathLst>
                <a:path h="2664712" w="5255768">
                  <a:moveTo>
                    <a:pt x="0" y="126274"/>
                  </a:moveTo>
                  <a:cubicBezTo>
                    <a:pt x="0" y="56466"/>
                    <a:pt x="74168" y="0"/>
                    <a:pt x="165862" y="0"/>
                  </a:cubicBezTo>
                  <a:lnTo>
                    <a:pt x="5089906" y="0"/>
                  </a:lnTo>
                  <a:cubicBezTo>
                    <a:pt x="5181473" y="0"/>
                    <a:pt x="5255768" y="56466"/>
                    <a:pt x="5255768" y="126274"/>
                  </a:cubicBezTo>
                  <a:lnTo>
                    <a:pt x="5255768" y="2538438"/>
                  </a:lnTo>
                  <a:cubicBezTo>
                    <a:pt x="5255768" y="2608150"/>
                    <a:pt x="5181600" y="2664712"/>
                    <a:pt x="5089906" y="2664712"/>
                  </a:cubicBezTo>
                  <a:lnTo>
                    <a:pt x="165862" y="2664712"/>
                  </a:lnTo>
                  <a:cubicBezTo>
                    <a:pt x="74168" y="2664712"/>
                    <a:pt x="0" y="2608246"/>
                    <a:pt x="0" y="2538438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437932" y="2047875"/>
            <a:ext cx="1828687" cy="1298246"/>
            <a:chOff x="0" y="0"/>
            <a:chExt cx="2438250" cy="1730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250" cy="1730995"/>
            </a:xfrm>
            <a:custGeom>
              <a:avLst/>
              <a:gdLst/>
              <a:ahLst/>
              <a:cxnLst/>
              <a:rect r="r" b="b" t="t" l="l"/>
              <a:pathLst>
                <a:path h="1730995" w="2438250">
                  <a:moveTo>
                    <a:pt x="0" y="0"/>
                  </a:moveTo>
                  <a:lnTo>
                    <a:pt x="2438250" y="0"/>
                  </a:lnTo>
                  <a:lnTo>
                    <a:pt x="2438250" y="1730995"/>
                  </a:lnTo>
                  <a:lnTo>
                    <a:pt x="0" y="1730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" r="-69510" b="85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438250" cy="1750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~150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17806" y="3086100"/>
            <a:ext cx="1814077" cy="617220"/>
            <a:chOff x="0" y="0"/>
            <a:chExt cx="2418769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18769" cy="822960"/>
            </a:xfrm>
            <a:custGeom>
              <a:avLst/>
              <a:gdLst/>
              <a:ahLst/>
              <a:cxnLst/>
              <a:rect r="r" b="b" t="t" l="l"/>
              <a:pathLst>
                <a:path h="822960" w="2418769">
                  <a:moveTo>
                    <a:pt x="0" y="0"/>
                  </a:moveTo>
                  <a:lnTo>
                    <a:pt x="2418769" y="0"/>
                  </a:lnTo>
                  <a:lnTo>
                    <a:pt x="241876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58" r="-70875" b="-478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418769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WINDOW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5619" y="2047875"/>
            <a:ext cx="3941826" cy="1998534"/>
            <a:chOff x="0" y="0"/>
            <a:chExt cx="5255768" cy="26647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55768" cy="2664712"/>
            </a:xfrm>
            <a:custGeom>
              <a:avLst/>
              <a:gdLst/>
              <a:ahLst/>
              <a:cxnLst/>
              <a:rect r="r" b="b" t="t" l="l"/>
              <a:pathLst>
                <a:path h="2664712" w="5255768">
                  <a:moveTo>
                    <a:pt x="0" y="126274"/>
                  </a:moveTo>
                  <a:cubicBezTo>
                    <a:pt x="0" y="56466"/>
                    <a:pt x="74168" y="0"/>
                    <a:pt x="165862" y="0"/>
                  </a:cubicBezTo>
                  <a:lnTo>
                    <a:pt x="5089906" y="0"/>
                  </a:lnTo>
                  <a:cubicBezTo>
                    <a:pt x="5181473" y="0"/>
                    <a:pt x="5255768" y="56466"/>
                    <a:pt x="5255768" y="126274"/>
                  </a:cubicBezTo>
                  <a:lnTo>
                    <a:pt x="5255768" y="2538438"/>
                  </a:lnTo>
                  <a:cubicBezTo>
                    <a:pt x="5255768" y="2608150"/>
                    <a:pt x="5181600" y="2664712"/>
                    <a:pt x="5089906" y="2664712"/>
                  </a:cubicBezTo>
                  <a:lnTo>
                    <a:pt x="165862" y="2664712"/>
                  </a:lnTo>
                  <a:cubicBezTo>
                    <a:pt x="74168" y="2664712"/>
                    <a:pt x="0" y="2608246"/>
                    <a:pt x="0" y="2538438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203870" y="2047875"/>
            <a:ext cx="2965323" cy="1298246"/>
            <a:chOff x="0" y="0"/>
            <a:chExt cx="3953764" cy="17309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3764" cy="1730995"/>
            </a:xfrm>
            <a:custGeom>
              <a:avLst/>
              <a:gdLst/>
              <a:ahLst/>
              <a:cxnLst/>
              <a:rect r="r" b="b" t="t" l="l"/>
              <a:pathLst>
                <a:path h="1730995" w="3953764">
                  <a:moveTo>
                    <a:pt x="0" y="0"/>
                  </a:moveTo>
                  <a:lnTo>
                    <a:pt x="3953764" y="0"/>
                  </a:lnTo>
                  <a:lnTo>
                    <a:pt x="3953764" y="1730995"/>
                  </a:lnTo>
                  <a:lnTo>
                    <a:pt x="0" y="1730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" r="-4535" b="857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953764" cy="1750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248,376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136624" y="3202304"/>
            <a:ext cx="3099816" cy="617220"/>
            <a:chOff x="0" y="0"/>
            <a:chExt cx="4133088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33088" cy="822960"/>
            </a:xfrm>
            <a:custGeom>
              <a:avLst/>
              <a:gdLst/>
              <a:ahLst/>
              <a:cxnLst/>
              <a:rect r="r" b="b" t="t" l="l"/>
              <a:pathLst>
                <a:path h="822960" w="4133088">
                  <a:moveTo>
                    <a:pt x="0" y="0"/>
                  </a:moveTo>
                  <a:lnTo>
                    <a:pt x="4133088" y="0"/>
                  </a:lnTo>
                  <a:lnTo>
                    <a:pt x="413308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58" r="0" b="-478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133088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b="true" sz="1725" spc="225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USABLE AFTER CLEANING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0555" y="4179759"/>
            <a:ext cx="17026890" cy="921001"/>
            <a:chOff x="0" y="0"/>
            <a:chExt cx="22702520" cy="12280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702520" cy="1228001"/>
            </a:xfrm>
            <a:custGeom>
              <a:avLst/>
              <a:gdLst/>
              <a:ahLst/>
              <a:cxnLst/>
              <a:rect r="r" b="b" t="t" l="l"/>
              <a:pathLst>
                <a:path h="1228001" w="22702520">
                  <a:moveTo>
                    <a:pt x="0" y="71324"/>
                  </a:moveTo>
                  <a:cubicBezTo>
                    <a:pt x="0" y="31900"/>
                    <a:pt x="76769" y="0"/>
                    <a:pt x="171647" y="0"/>
                  </a:cubicBezTo>
                  <a:lnTo>
                    <a:pt x="22530874" y="0"/>
                  </a:lnTo>
                  <a:cubicBezTo>
                    <a:pt x="22625621" y="0"/>
                    <a:pt x="22702520" y="31900"/>
                    <a:pt x="22702520" y="71324"/>
                  </a:cubicBezTo>
                  <a:lnTo>
                    <a:pt x="22702520" y="1156676"/>
                  </a:lnTo>
                  <a:cubicBezTo>
                    <a:pt x="22702520" y="1196047"/>
                    <a:pt x="22625752" y="1228001"/>
                    <a:pt x="22530874" y="1228001"/>
                  </a:cubicBezTo>
                  <a:lnTo>
                    <a:pt x="171647" y="1228001"/>
                  </a:lnTo>
                  <a:cubicBezTo>
                    <a:pt x="76769" y="1228001"/>
                    <a:pt x="0" y="1196101"/>
                    <a:pt x="0" y="1156676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700784" y="4179759"/>
            <a:ext cx="15361920" cy="963741"/>
            <a:chOff x="0" y="0"/>
            <a:chExt cx="20482560" cy="12849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82561" cy="1284988"/>
            </a:xfrm>
            <a:custGeom>
              <a:avLst/>
              <a:gdLst/>
              <a:ahLst/>
              <a:cxnLst/>
              <a:rect r="r" b="b" t="t" l="l"/>
              <a:pathLst>
                <a:path h="128498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4988"/>
                  </a:lnTo>
                  <a:lnTo>
                    <a:pt x="0" y="1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13" r="0" b="-2888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0482560" cy="13040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We drop rejected and duplicate records, then aggregate violations onto a ~55 m grid → </a:t>
              </a: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13,782 ranked hotspot cells.</a:t>
              </a:r>
              <a:r>
                <a:rPr lang="en-US" sz="22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  The relative spatial signal is trustworthy; we deliberately avoid the unreliable hour-of-day field.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5586984"/>
            <a:ext cx="137160" cy="137160"/>
            <a:chOff x="0" y="0"/>
            <a:chExt cx="182880" cy="182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5429250"/>
            <a:ext cx="8782273" cy="438912"/>
            <a:chOff x="0" y="0"/>
            <a:chExt cx="11709697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9697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9697">
                  <a:moveTo>
                    <a:pt x="0" y="0"/>
                  </a:moveTo>
                  <a:lnTo>
                    <a:pt x="11709697" y="0"/>
                  </a:lnTo>
                  <a:lnTo>
                    <a:pt x="1170969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-71796" b="-6197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1709697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SECRET SAUCE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14400" y="5976747"/>
            <a:ext cx="9056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Obstruction-impact index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440966" y="5559552"/>
            <a:ext cx="9847034" cy="1577340"/>
            <a:chOff x="0" y="0"/>
            <a:chExt cx="13129378" cy="210312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563880"/>
              <a:ext cx="11722961" cy="946054"/>
              <a:chOff x="0" y="0"/>
              <a:chExt cx="11722961" cy="94605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1722961" cy="946054"/>
              </a:xfrm>
              <a:custGeom>
                <a:avLst/>
                <a:gdLst/>
                <a:ahLst/>
                <a:cxnLst/>
                <a:rect r="r" b="b" t="t" l="l"/>
                <a:pathLst>
                  <a:path h="946054" w="11722961">
                    <a:moveTo>
                      <a:pt x="0" y="74059"/>
                    </a:moveTo>
                    <a:cubicBezTo>
                      <a:pt x="0" y="33134"/>
                      <a:pt x="39777" y="0"/>
                      <a:pt x="88905" y="0"/>
                    </a:cubicBezTo>
                    <a:lnTo>
                      <a:pt x="11634057" y="0"/>
                    </a:lnTo>
                    <a:cubicBezTo>
                      <a:pt x="11683116" y="0"/>
                      <a:pt x="11722961" y="33134"/>
                      <a:pt x="11722961" y="74059"/>
                    </a:cubicBezTo>
                    <a:lnTo>
                      <a:pt x="11722961" y="871995"/>
                    </a:lnTo>
                    <a:cubicBezTo>
                      <a:pt x="11722961" y="912863"/>
                      <a:pt x="11683185" y="946054"/>
                      <a:pt x="11634057" y="946054"/>
                    </a:cubicBezTo>
                    <a:lnTo>
                      <a:pt x="88905" y="946054"/>
                    </a:lnTo>
                    <a:cubicBezTo>
                      <a:pt x="39777" y="946054"/>
                      <a:pt x="0" y="912919"/>
                      <a:pt x="0" y="871995"/>
                    </a:cubicBezTo>
                    <a:close/>
                  </a:path>
                </a:pathLst>
              </a:custGeom>
              <a:solidFill>
                <a:srgbClr val="241F17"/>
              </a:solidFill>
              <a:ln w="19050" cap="sq">
                <a:solidFill>
                  <a:srgbClr val="3A3225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391160" y="0"/>
              <a:ext cx="12738218" cy="2103120"/>
              <a:chOff x="0" y="0"/>
              <a:chExt cx="12738218" cy="210312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2738219" cy="2103120"/>
              </a:xfrm>
              <a:custGeom>
                <a:avLst/>
                <a:gdLst/>
                <a:ahLst/>
                <a:cxnLst/>
                <a:rect r="r" b="b" t="t" l="l"/>
                <a:pathLst>
                  <a:path h="2103120" w="12738219">
                    <a:moveTo>
                      <a:pt x="0" y="0"/>
                    </a:moveTo>
                    <a:lnTo>
                      <a:pt x="12738219" y="0"/>
                    </a:lnTo>
                    <a:lnTo>
                      <a:pt x="12738219" y="2103120"/>
                    </a:lnTo>
                    <a:lnTo>
                      <a:pt x="0" y="2103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9767" r="-60796" b="-139767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12738218" cy="21221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true">
                    <a:solidFill>
                      <a:srgbClr val="ECE1D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cell impact  =  Σ ( </a:t>
                </a:r>
                <a:r>
                  <a:rPr lang="en-US" sz="1950" b="true">
                    <a:solidFill>
                      <a:srgbClr val="E5564B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severity</a:t>
                </a:r>
                <a:r>
                  <a:rPr lang="en-US" sz="1950">
                    <a:solidFill>
                      <a:srgbClr val="ECE1D4"/>
                    </a:solidFill>
                    <a:latin typeface="Arial"/>
                    <a:ea typeface="Arial"/>
                    <a:cs typeface="Arial"/>
                    <a:sym typeface="Arial"/>
                  </a:rPr>
                  <a:t>  ×  </a:t>
                </a:r>
                <a:r>
                  <a:rPr lang="en-US" sz="1950" b="true">
                    <a:solidFill>
                      <a:srgbClr val="5AA0E6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vehicle footprint</a:t>
                </a:r>
                <a:r>
                  <a:rPr lang="en-US" sz="1950" b="true">
                    <a:solidFill>
                      <a:srgbClr val="ECE1D4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 )</a:t>
                </a:r>
                <a:r>
                  <a:rPr lang="en-US" sz="1950">
                    <a:solidFill>
                      <a:srgbClr val="9D8F7C"/>
                    </a:solidFill>
                    <a:latin typeface="Arial"/>
                    <a:ea typeface="Arial"/>
                    <a:cs typeface="Arial"/>
                    <a:sym typeface="Arial"/>
                  </a:rPr>
                  <a:t>     →  normalised 0–100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1992676" y="7329129"/>
            <a:ext cx="6631216" cy="338203"/>
            <a:chOff x="0" y="0"/>
            <a:chExt cx="10607040" cy="54097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607040" cy="540976"/>
            </a:xfrm>
            <a:custGeom>
              <a:avLst/>
              <a:gdLst/>
              <a:ahLst/>
              <a:cxnLst/>
              <a:rect r="r" b="b" t="t" l="l"/>
              <a:pathLst>
                <a:path h="54097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0976"/>
                  </a:lnTo>
                  <a:lnTo>
                    <a:pt x="0" y="54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39" r="0" b="-3327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0607040" cy="56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E556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SEVERITY — WHERE IT HAPPENS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02165" y="7290860"/>
            <a:ext cx="7955280" cy="414739"/>
            <a:chOff x="0" y="0"/>
            <a:chExt cx="10607040" cy="55298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07040" cy="552986"/>
            </a:xfrm>
            <a:custGeom>
              <a:avLst/>
              <a:gdLst/>
              <a:ahLst/>
              <a:cxnLst/>
              <a:rect r="r" b="b" t="t" l="l"/>
              <a:pathLst>
                <a:path h="55298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52986"/>
                  </a:lnTo>
                  <a:lnTo>
                    <a:pt x="0" y="5529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43" r="0" b="-32335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0607040" cy="57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5AA0E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FOOTPRINT — ROAD SPACE (PCU)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92676" y="7756545"/>
            <a:ext cx="14302649" cy="2149475"/>
            <a:chOff x="0" y="0"/>
            <a:chExt cx="19070198" cy="2865967"/>
          </a:xfrm>
        </p:grpSpPr>
      </p:grpSp>
      <p:graphicFrame>
        <p:nvGraphicFramePr>
          <p:cNvPr name="Table 64" id="64"/>
          <p:cNvGraphicFramePr>
            <a:graphicFrameLocks noGrp="true"/>
          </p:cNvGraphicFramePr>
          <p:nvPr/>
        </p:nvGraphicFramePr>
        <p:xfrm>
          <a:off x="0" y="48153"/>
          <a:ext cx="6621689" cy="2053168"/>
        </p:xfrm>
        <a:graphic>
          <a:graphicData uri="http://schemas.openxmlformats.org/drawingml/2006/table">
            <a:tbl>
              <a:tblPr/>
              <a:tblGrid>
                <a:gridCol w="5242433"/>
                <a:gridCol w="1379255"/>
              </a:tblGrid>
              <a:tr h="410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0"/>
                        </a:lnSpc>
                        <a:defRPr/>
                      </a:pPr>
                      <a:r>
                        <a:rPr lang="en-US" sz="1625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road / crossing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50"/>
                        </a:lnSpc>
                        <a:defRPr/>
                      </a:pPr>
                      <a:r>
                        <a:rPr lang="en-US" sz="1625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3.0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10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0"/>
                        </a:lnSpc>
                        <a:defRPr/>
                      </a:pPr>
                      <a:r>
                        <a:rPr lang="en-US" sz="1625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parking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50"/>
                        </a:lnSpc>
                        <a:defRPr/>
                      </a:pPr>
                      <a:r>
                        <a:rPr lang="en-US" sz="1625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2.5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10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0"/>
                        </a:lnSpc>
                        <a:defRPr/>
                      </a:pPr>
                      <a:r>
                        <a:rPr lang="en-US" sz="1625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 stop / school / hospital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50"/>
                        </a:lnSpc>
                        <a:defRPr/>
                      </a:pPr>
                      <a:r>
                        <a:rPr lang="en-US" sz="1625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2.0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10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0"/>
                        </a:lnSpc>
                        <a:defRPr/>
                      </a:pPr>
                      <a:r>
                        <a:rPr lang="en-US" sz="1625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Wrong side / no-parking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50"/>
                        </a:lnSpc>
                        <a:defRPr/>
                      </a:pPr>
                      <a:r>
                        <a:rPr lang="en-US" sz="1625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1.5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106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0"/>
                        </a:lnSpc>
                        <a:defRPr/>
                      </a:pPr>
                      <a:r>
                        <a:rPr lang="en-US" sz="1625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Footpath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50"/>
                        </a:lnSpc>
                        <a:defRPr/>
                      </a:pPr>
                      <a:r>
                        <a:rPr lang="en-US" sz="1625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1.2</a:t>
                      </a:r>
                      <a:endParaRPr lang="en-US" sz="1100"/>
                    </a:p>
                  </a:txBody>
                  <a:tcPr marL="31759" marR="31759" marT="31759" marB="31759" anchor="ctr">
                    <a:lnL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93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5" id="65"/>
          <p:cNvGraphicFramePr>
            <a:graphicFrameLocks noGrp="true"/>
          </p:cNvGraphicFramePr>
          <p:nvPr/>
        </p:nvGraphicFramePr>
        <p:xfrm>
          <a:off x="7700345" y="0"/>
          <a:ext cx="6602303" cy="2149475"/>
        </p:xfrm>
        <a:graphic>
          <a:graphicData uri="http://schemas.openxmlformats.org/drawingml/2006/table">
            <a:tbl>
              <a:tblPr/>
              <a:tblGrid>
                <a:gridCol w="5264260"/>
                <a:gridCol w="1338043"/>
              </a:tblGrid>
              <a:tr h="429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Scooter / 2-wheeler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0.4 – 0.5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29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0.8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29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29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Goods / van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1.2 – 1.5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429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 / lorry / HGV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3.0 – 3.5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</a:tbl>
          </a:graphicData>
        </a:graphic>
      </p:graphicFrame>
      <p:grpSp>
        <p:nvGrpSpPr>
          <p:cNvPr name="Group 66" id="66"/>
          <p:cNvGrpSpPr/>
          <p:nvPr/>
        </p:nvGrpSpPr>
        <p:grpSpPr>
          <a:xfrm rot="0">
            <a:off x="914400" y="9562975"/>
            <a:ext cx="16459200" cy="960120"/>
            <a:chOff x="0" y="0"/>
            <a:chExt cx="21945600" cy="1280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9D8F7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 bus blocking a crossing outweighs a scooter on a footpath. Weights are transparent constants.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459867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02133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ROOT CAUSE → PRESCRIPTION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721995"/>
            <a:ext cx="6741465" cy="109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541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The vehicle mix tells us why </a:t>
            </a:r>
          </a:p>
          <a:p>
            <a:pPr algn="l">
              <a:lnSpc>
                <a:spcPts val="4250"/>
              </a:lnSpc>
            </a:pPr>
            <a:r>
              <a:rPr lang="en-US" sz="3541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— and what to do.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0120" y="1963447"/>
          <a:ext cx="5708102" cy="8088623"/>
        </p:xfrm>
        <a:graphic>
          <a:graphicData uri="http://schemas.openxmlformats.org/drawingml/2006/table">
            <a:tbl>
              <a:tblPr/>
              <a:tblGrid>
                <a:gridCol w="1891355"/>
                <a:gridCol w="1851471"/>
                <a:gridCol w="1965277"/>
              </a:tblGrid>
              <a:tr h="7721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b="true" sz="1725" spc="150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ROOT CAUSE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b="true" sz="1725" spc="150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SIGNAL IN THE 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b="true" sz="1725" spc="150">
                          <a:solidFill>
                            <a:srgbClr val="F5B544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PRESCRIBED FIX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7"/>
                    </a:solidFill>
                  </a:tcPr>
                </a:tc>
              </a:tr>
              <a:tr h="12179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5AA0E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Commuter overflow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Two-wheelers dominate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Park-and-ride + reroute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1220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0A93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Delivery overflow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Goods-vehicle share 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Timed loading bay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1220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08AF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Hire / transit demand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Autos &amp; cabs cluster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Designated stand + drop-off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1220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E5564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Safety risk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Crossing / school / footpath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Bollards + enforcement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1220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6C08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Structural demand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volume, all types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/ off-street provision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  <a:tr h="12179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6A892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Enforcement priority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7B8A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Recurring, no dominant type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ECE1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Ranked patrol dispatch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A3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10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366760" y="351688"/>
            <a:ext cx="12152161" cy="353517"/>
            <a:chOff x="0" y="0"/>
            <a:chExt cx="20116800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PRIORITISATION PAYS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58998" y="721995"/>
            <a:ext cx="1325690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Obstruction is concentrated </a:t>
            </a:r>
          </a:p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— act where it matters.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58998" y="453009"/>
            <a:ext cx="137160" cy="137160"/>
            <a:chOff x="0" y="0"/>
            <a:chExt cx="182880" cy="18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46539" y="1326806"/>
            <a:ext cx="5772468" cy="4032326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13549139" y="1845945"/>
            <a:ext cx="4290822" cy="2875272"/>
            <a:chOff x="0" y="0"/>
            <a:chExt cx="5628045" cy="37713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28046" cy="3771343"/>
            </a:xfrm>
            <a:custGeom>
              <a:avLst/>
              <a:gdLst/>
              <a:ahLst/>
              <a:cxnLst/>
              <a:rect r="r" b="b" t="t" l="l"/>
              <a:pathLst>
                <a:path h="3771343" w="5628046">
                  <a:moveTo>
                    <a:pt x="0" y="73849"/>
                  </a:moveTo>
                  <a:cubicBezTo>
                    <a:pt x="0" y="33036"/>
                    <a:pt x="58118" y="0"/>
                    <a:pt x="129916" y="0"/>
                  </a:cubicBezTo>
                  <a:lnTo>
                    <a:pt x="5498130" y="0"/>
                  </a:lnTo>
                  <a:cubicBezTo>
                    <a:pt x="5569828" y="0"/>
                    <a:pt x="5628046" y="33036"/>
                    <a:pt x="5628046" y="73849"/>
                  </a:cubicBezTo>
                  <a:lnTo>
                    <a:pt x="5628046" y="3697494"/>
                  </a:lnTo>
                  <a:cubicBezTo>
                    <a:pt x="5628046" y="3738251"/>
                    <a:pt x="5569928" y="3771343"/>
                    <a:pt x="5498130" y="3771343"/>
                  </a:cubicBezTo>
                  <a:lnTo>
                    <a:pt x="129916" y="3771343"/>
                  </a:lnTo>
                  <a:cubicBezTo>
                    <a:pt x="58118" y="3771343"/>
                    <a:pt x="0" y="3738307"/>
                    <a:pt x="0" y="3697494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701933" y="1963447"/>
            <a:ext cx="4461687" cy="418283"/>
            <a:chOff x="0" y="0"/>
            <a:chExt cx="585216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852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b="true" sz="1649" spc="299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TAKEAWAY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01933" y="1963447"/>
            <a:ext cx="4531401" cy="1416063"/>
            <a:chOff x="0" y="0"/>
            <a:chExt cx="585216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85216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48.5%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01933" y="2888466"/>
            <a:ext cx="3648730" cy="790230"/>
            <a:chOff x="0" y="0"/>
            <a:chExt cx="5943600" cy="12872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287246"/>
            </a:xfrm>
            <a:custGeom>
              <a:avLst/>
              <a:gdLst/>
              <a:ahLst/>
              <a:cxnLst/>
              <a:rect r="r" b="b" t="t" l="l"/>
              <a:pathLst>
                <a:path h="128724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87246"/>
                  </a:lnTo>
                  <a:lnTo>
                    <a:pt x="0" y="1287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2" r="0" b="-6100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943600" cy="1306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of the city’s total obstruction burden sits in just 500 spots.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01933" y="3191512"/>
            <a:ext cx="4138028" cy="1921957"/>
            <a:chOff x="0" y="0"/>
            <a:chExt cx="5512440" cy="2560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124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512440">
                  <a:moveTo>
                    <a:pt x="0" y="0"/>
                  </a:moveTo>
                  <a:lnTo>
                    <a:pt x="5512440" y="0"/>
                  </a:lnTo>
                  <a:lnTo>
                    <a:pt x="55124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81" t="0" r="-1350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51244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The top 50 alone cover 14.5% — a focused patrol list, not a citywide sweep.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58998" y="5233865"/>
            <a:ext cx="137160" cy="137160"/>
            <a:chOff x="0" y="0"/>
            <a:chExt cx="182880" cy="182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23834" y="5083411"/>
            <a:ext cx="15087600" cy="438912"/>
            <a:chOff x="0" y="0"/>
            <a:chExt cx="201168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VISION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058998" y="5475800"/>
            <a:ext cx="164592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From 13,782 hotspots to one decision.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58998" y="6237800"/>
            <a:ext cx="8763307" cy="586895"/>
            <a:chOff x="0" y="0"/>
            <a:chExt cx="11684410" cy="7825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684411" cy="782526"/>
            </a:xfrm>
            <a:custGeom>
              <a:avLst/>
              <a:gdLst/>
              <a:ahLst/>
              <a:cxnLst/>
              <a:rect r="r" b="b" t="t" l="l"/>
              <a:pathLst>
                <a:path h="782526" w="11684411">
                  <a:moveTo>
                    <a:pt x="0" y="74029"/>
                  </a:moveTo>
                  <a:cubicBezTo>
                    <a:pt x="0" y="33158"/>
                    <a:pt x="33285" y="0"/>
                    <a:pt x="74312" y="0"/>
                  </a:cubicBezTo>
                  <a:lnTo>
                    <a:pt x="11610098" y="0"/>
                  </a:lnTo>
                  <a:cubicBezTo>
                    <a:pt x="11651125" y="0"/>
                    <a:pt x="11684411" y="33158"/>
                    <a:pt x="11684411" y="74029"/>
                  </a:cubicBezTo>
                  <a:lnTo>
                    <a:pt x="11684411" y="708498"/>
                  </a:lnTo>
                  <a:cubicBezTo>
                    <a:pt x="11684411" y="749368"/>
                    <a:pt x="11651125" y="782526"/>
                    <a:pt x="11610098" y="782526"/>
                  </a:cubicBezTo>
                  <a:lnTo>
                    <a:pt x="74312" y="782526"/>
                  </a:lnTo>
                  <a:cubicBezTo>
                    <a:pt x="33285" y="782526"/>
                    <a:pt x="0" y="749368"/>
                    <a:pt x="0" y="708498"/>
                  </a:cubicBezTo>
                  <a:close/>
                </a:path>
              </a:pathLst>
            </a:custGeom>
            <a:solidFill>
              <a:srgbClr val="241F17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196158" y="6007758"/>
            <a:ext cx="3017520" cy="1014984"/>
            <a:chOff x="0" y="0"/>
            <a:chExt cx="4023360" cy="13533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023360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13,782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04693" y="6007758"/>
            <a:ext cx="3071919" cy="1014984"/>
            <a:chOff x="0" y="0"/>
            <a:chExt cx="4095892" cy="13533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95892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95892">
                  <a:moveTo>
                    <a:pt x="0" y="0"/>
                  </a:moveTo>
                  <a:lnTo>
                    <a:pt x="4095892" y="0"/>
                  </a:lnTo>
                  <a:lnTo>
                    <a:pt x="4095892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915" r="-266126" b="-1659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095892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grid cells with a violation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12232" y="6977095"/>
            <a:ext cx="7456840" cy="586895"/>
            <a:chOff x="0" y="0"/>
            <a:chExt cx="9942454" cy="7825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42454" cy="782526"/>
            </a:xfrm>
            <a:custGeom>
              <a:avLst/>
              <a:gdLst/>
              <a:ahLst/>
              <a:cxnLst/>
              <a:rect r="r" b="b" t="t" l="l"/>
              <a:pathLst>
                <a:path h="782526" w="9942454">
                  <a:moveTo>
                    <a:pt x="0" y="74029"/>
                  </a:moveTo>
                  <a:cubicBezTo>
                    <a:pt x="0" y="33158"/>
                    <a:pt x="28323" y="0"/>
                    <a:pt x="63233" y="0"/>
                  </a:cubicBezTo>
                  <a:lnTo>
                    <a:pt x="9879220" y="0"/>
                  </a:lnTo>
                  <a:cubicBezTo>
                    <a:pt x="9914131" y="0"/>
                    <a:pt x="9942454" y="33158"/>
                    <a:pt x="9942454" y="74029"/>
                  </a:cubicBezTo>
                  <a:lnTo>
                    <a:pt x="9942454" y="708498"/>
                  </a:lnTo>
                  <a:cubicBezTo>
                    <a:pt x="9942454" y="749368"/>
                    <a:pt x="9914131" y="782526"/>
                    <a:pt x="9879220" y="782526"/>
                  </a:cubicBezTo>
                  <a:lnTo>
                    <a:pt x="63233" y="782526"/>
                  </a:lnTo>
                  <a:cubicBezTo>
                    <a:pt x="28323" y="782526"/>
                    <a:pt x="0" y="749368"/>
                    <a:pt x="0" y="708498"/>
                  </a:cubicBezTo>
                  <a:close/>
                </a:path>
              </a:pathLst>
            </a:custGeom>
            <a:solidFill>
              <a:srgbClr val="241F17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49791" y="7716390"/>
            <a:ext cx="6176507" cy="586895"/>
            <a:chOff x="0" y="0"/>
            <a:chExt cx="8235343" cy="7825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235344" cy="782526"/>
            </a:xfrm>
            <a:custGeom>
              <a:avLst/>
              <a:gdLst/>
              <a:ahLst/>
              <a:cxnLst/>
              <a:rect r="r" b="b" t="t" l="l"/>
              <a:pathLst>
                <a:path h="782526" w="8235344">
                  <a:moveTo>
                    <a:pt x="0" y="74029"/>
                  </a:moveTo>
                  <a:cubicBezTo>
                    <a:pt x="0" y="33158"/>
                    <a:pt x="23460" y="0"/>
                    <a:pt x="52376" y="0"/>
                  </a:cubicBezTo>
                  <a:lnTo>
                    <a:pt x="8182967" y="0"/>
                  </a:lnTo>
                  <a:cubicBezTo>
                    <a:pt x="8211884" y="0"/>
                    <a:pt x="8235344" y="33158"/>
                    <a:pt x="8235344" y="74029"/>
                  </a:cubicBezTo>
                  <a:lnTo>
                    <a:pt x="8235344" y="708498"/>
                  </a:lnTo>
                  <a:cubicBezTo>
                    <a:pt x="8235344" y="749368"/>
                    <a:pt x="8211884" y="782526"/>
                    <a:pt x="8182967" y="782526"/>
                  </a:cubicBezTo>
                  <a:lnTo>
                    <a:pt x="52376" y="782526"/>
                  </a:lnTo>
                  <a:cubicBezTo>
                    <a:pt x="23460" y="782526"/>
                    <a:pt x="0" y="749368"/>
                    <a:pt x="0" y="708498"/>
                  </a:cubicBezTo>
                  <a:close/>
                </a:path>
              </a:pathLst>
            </a:custGeom>
            <a:solidFill>
              <a:srgbClr val="241F17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045309" y="8455684"/>
            <a:ext cx="4790686" cy="586895"/>
            <a:chOff x="0" y="0"/>
            <a:chExt cx="6387582" cy="7825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87582" cy="782526"/>
            </a:xfrm>
            <a:custGeom>
              <a:avLst/>
              <a:gdLst/>
              <a:ahLst/>
              <a:cxnLst/>
              <a:rect r="r" b="b" t="t" l="l"/>
              <a:pathLst>
                <a:path h="782526" w="6387582">
                  <a:moveTo>
                    <a:pt x="0" y="74029"/>
                  </a:moveTo>
                  <a:cubicBezTo>
                    <a:pt x="0" y="33158"/>
                    <a:pt x="18196" y="0"/>
                    <a:pt x="40625" y="0"/>
                  </a:cubicBezTo>
                  <a:lnTo>
                    <a:pt x="6346957" y="0"/>
                  </a:lnTo>
                  <a:cubicBezTo>
                    <a:pt x="6369386" y="0"/>
                    <a:pt x="6387582" y="33158"/>
                    <a:pt x="6387582" y="74029"/>
                  </a:cubicBezTo>
                  <a:lnTo>
                    <a:pt x="6387582" y="708498"/>
                  </a:lnTo>
                  <a:cubicBezTo>
                    <a:pt x="6387582" y="749368"/>
                    <a:pt x="6369386" y="782526"/>
                    <a:pt x="6346957" y="782526"/>
                  </a:cubicBezTo>
                  <a:lnTo>
                    <a:pt x="40625" y="782526"/>
                  </a:lnTo>
                  <a:cubicBezTo>
                    <a:pt x="18196" y="782526"/>
                    <a:pt x="0" y="749368"/>
                    <a:pt x="0" y="708498"/>
                  </a:cubicBezTo>
                  <a:close/>
                </a:path>
              </a:pathLst>
            </a:custGeom>
            <a:solidFill>
              <a:srgbClr val="241F17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740827" y="9194979"/>
            <a:ext cx="3341689" cy="586895"/>
            <a:chOff x="0" y="0"/>
            <a:chExt cx="4455586" cy="78252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55587" cy="782526"/>
            </a:xfrm>
            <a:custGeom>
              <a:avLst/>
              <a:gdLst/>
              <a:ahLst/>
              <a:cxnLst/>
              <a:rect r="r" b="b" t="t" l="l"/>
              <a:pathLst>
                <a:path h="782526" w="4455587">
                  <a:moveTo>
                    <a:pt x="0" y="74029"/>
                  </a:moveTo>
                  <a:cubicBezTo>
                    <a:pt x="0" y="33158"/>
                    <a:pt x="12692" y="0"/>
                    <a:pt x="28337" y="0"/>
                  </a:cubicBezTo>
                  <a:lnTo>
                    <a:pt x="4427249" y="0"/>
                  </a:lnTo>
                  <a:cubicBezTo>
                    <a:pt x="4442894" y="0"/>
                    <a:pt x="4455587" y="33158"/>
                    <a:pt x="4455587" y="74029"/>
                  </a:cubicBezTo>
                  <a:lnTo>
                    <a:pt x="4455587" y="708498"/>
                  </a:lnTo>
                  <a:cubicBezTo>
                    <a:pt x="4455587" y="749368"/>
                    <a:pt x="4442894" y="782526"/>
                    <a:pt x="4427249" y="782526"/>
                  </a:cubicBezTo>
                  <a:lnTo>
                    <a:pt x="28337" y="782526"/>
                  </a:lnTo>
                  <a:cubicBezTo>
                    <a:pt x="12692" y="782526"/>
                    <a:pt x="0" y="749368"/>
                    <a:pt x="0" y="708498"/>
                  </a:cubicBezTo>
                  <a:close/>
                </a:path>
              </a:pathLst>
            </a:custGeom>
            <a:solidFill>
              <a:srgbClr val="F0A93B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02085" y="6763050"/>
            <a:ext cx="3071919" cy="1014984"/>
            <a:chOff x="0" y="0"/>
            <a:chExt cx="4095892" cy="13533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95892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95892">
                  <a:moveTo>
                    <a:pt x="0" y="0"/>
                  </a:moveTo>
                  <a:lnTo>
                    <a:pt x="4095892" y="0"/>
                  </a:lnTo>
                  <a:lnTo>
                    <a:pt x="4095892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915" r="-266126" b="-1659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095892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ranked priority hotspots 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— 48.5% of impact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99477" y="7483295"/>
            <a:ext cx="3071919" cy="1014984"/>
            <a:chOff x="0" y="0"/>
            <a:chExt cx="4095892" cy="13533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95892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95892">
                  <a:moveTo>
                    <a:pt x="0" y="0"/>
                  </a:moveTo>
                  <a:lnTo>
                    <a:pt x="4095892" y="0"/>
                  </a:lnTo>
                  <a:lnTo>
                    <a:pt x="4095892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915" r="-266126" b="-1659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095892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top-impact spots 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— 22% of impact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896869" y="8243316"/>
            <a:ext cx="3071919" cy="1014984"/>
            <a:chOff x="0" y="0"/>
            <a:chExt cx="4095892" cy="13533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95892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95892">
                  <a:moveTo>
                    <a:pt x="0" y="0"/>
                  </a:moveTo>
                  <a:lnTo>
                    <a:pt x="4095892" y="0"/>
                  </a:lnTo>
                  <a:lnTo>
                    <a:pt x="4095892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915" r="-266126" b="-16591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095892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…that are also emerging 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(getting worse)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94262" y="8980934"/>
            <a:ext cx="3071919" cy="1014984"/>
            <a:chOff x="0" y="0"/>
            <a:chExt cx="4095892" cy="13533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95892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95892">
                  <a:moveTo>
                    <a:pt x="0" y="0"/>
                  </a:moveTo>
                  <a:lnTo>
                    <a:pt x="4095892" y="0"/>
                  </a:lnTo>
                  <a:lnTo>
                    <a:pt x="4095892" y="1353312"/>
                  </a:lnTo>
                  <a:lnTo>
                    <a:pt x="0" y="1353312"/>
                  </a:lnTo>
                  <a:close/>
                </a:path>
              </a:pathLst>
            </a:custGeom>
            <a:solidFill>
              <a:srgbClr val="241F17">
                <a:alpha val="0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095892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3A3225"/>
                  </a:solidFill>
                  <a:latin typeface="Arial"/>
                  <a:ea typeface="Arial"/>
                  <a:cs typeface="Arial"/>
                  <a:sym typeface="Arial"/>
                </a:rPr>
                <a:t>…and also habitual 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3A3225"/>
                  </a:solidFill>
                  <a:latin typeface="Arial"/>
                  <a:ea typeface="Arial"/>
                  <a:cs typeface="Arial"/>
                  <a:sym typeface="Arial"/>
                </a:rPr>
                <a:t>— same vehicles return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873490" y="6763050"/>
            <a:ext cx="3017520" cy="1014984"/>
            <a:chOff x="0" y="0"/>
            <a:chExt cx="4023360" cy="13533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3360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023360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92965" y="7508517"/>
            <a:ext cx="3017520" cy="1014984"/>
            <a:chOff x="0" y="0"/>
            <a:chExt cx="4023360" cy="13533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023360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4023360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197932" y="8241640"/>
            <a:ext cx="3017520" cy="1014984"/>
            <a:chOff x="0" y="0"/>
            <a:chExt cx="4023360" cy="13533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23360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023360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894262" y="8980934"/>
            <a:ext cx="3017520" cy="1014984"/>
            <a:chOff x="0" y="0"/>
            <a:chExt cx="4023360" cy="13533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23360" cy="1353312"/>
            </a:xfrm>
            <a:custGeom>
              <a:avLst/>
              <a:gdLst/>
              <a:ahLst/>
              <a:cxnLst/>
              <a:rect r="r" b="b" t="t" l="l"/>
              <a:pathLst>
                <a:path h="13533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8" r="0" b="-79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023360" cy="137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235324" y="8791919"/>
            <a:ext cx="3604637" cy="1495081"/>
            <a:chOff x="0" y="0"/>
            <a:chExt cx="4806183" cy="199344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06183" cy="1993441"/>
            </a:xfrm>
            <a:custGeom>
              <a:avLst/>
              <a:gdLst/>
              <a:ahLst/>
              <a:cxnLst/>
              <a:rect r="r" b="b" t="t" l="l"/>
              <a:pathLst>
                <a:path h="1993441" w="4806183">
                  <a:moveTo>
                    <a:pt x="0" y="0"/>
                  </a:moveTo>
                  <a:lnTo>
                    <a:pt x="4806183" y="0"/>
                  </a:lnTo>
                  <a:lnTo>
                    <a:pt x="4806183" y="1993441"/>
                  </a:lnTo>
                  <a:lnTo>
                    <a:pt x="0" y="1993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573" r="-356611" b="-13744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806183" cy="20124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one: </a:t>
              </a:r>
              <a:r>
                <a:rPr lang="en-US" sz="1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Hosahalli Metro Station</a:t>
              </a: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—  the single spot that is high-impact AND worsening AND repeat-heavy. That’s where you start.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5973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88239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PRODUCT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945261"/>
            <a:ext cx="164592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An operational console, not a static report.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0595" y="1845782"/>
            <a:ext cx="5172700" cy="1398757"/>
            <a:chOff x="0" y="0"/>
            <a:chExt cx="7509718" cy="20307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816805" y="1978281"/>
            <a:ext cx="3910036" cy="493663"/>
            <a:chOff x="0" y="0"/>
            <a:chExt cx="5676584" cy="7166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Hotspot map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2314" y="2443369"/>
            <a:ext cx="4324528" cy="697567"/>
            <a:chOff x="0" y="0"/>
            <a:chExt cx="6278343" cy="10127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78343" cy="1012726"/>
            </a:xfrm>
            <a:custGeom>
              <a:avLst/>
              <a:gdLst/>
              <a:ahLst/>
              <a:cxnLst/>
              <a:rect r="r" b="b" t="t" l="l"/>
              <a:pathLst>
                <a:path h="101272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1012726"/>
                  </a:lnTo>
                  <a:lnTo>
                    <a:pt x="0" y="1012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00" r="8827" b="-8236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278343" cy="103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Every spot plotted by cause &amp; impact, with filters and dispatch.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18597" y="1845782"/>
            <a:ext cx="5172700" cy="1398757"/>
            <a:chOff x="0" y="0"/>
            <a:chExt cx="7509718" cy="20307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84808" y="1978281"/>
            <a:ext cx="3910036" cy="493663"/>
            <a:chOff x="0" y="0"/>
            <a:chExt cx="5676584" cy="716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Dispatch board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70316" y="2488031"/>
            <a:ext cx="4324528" cy="652904"/>
            <a:chOff x="0" y="0"/>
            <a:chExt cx="6278343" cy="9478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78343" cy="947886"/>
            </a:xfrm>
            <a:custGeom>
              <a:avLst/>
              <a:gdLst/>
              <a:ahLst/>
              <a:cxnLst/>
              <a:rect r="r" b="b" t="t" l="l"/>
              <a:pathLst>
                <a:path h="94788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947886"/>
                  </a:lnTo>
                  <a:lnTo>
                    <a:pt x="0" y="947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93" r="8827" b="-948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278343" cy="966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Ranked, sortable, filterable priority list.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86600" y="1845782"/>
            <a:ext cx="5172700" cy="1398757"/>
            <a:chOff x="0" y="0"/>
            <a:chExt cx="7509718" cy="20307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952810" y="1978281"/>
            <a:ext cx="3910036" cy="493663"/>
            <a:chOff x="0" y="0"/>
            <a:chExt cx="5676584" cy="7166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Hotspot profile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538319" y="2443369"/>
            <a:ext cx="4324528" cy="697567"/>
            <a:chOff x="0" y="0"/>
            <a:chExt cx="6278343" cy="10127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78343" cy="1012726"/>
            </a:xfrm>
            <a:custGeom>
              <a:avLst/>
              <a:gdLst/>
              <a:ahLst/>
              <a:cxnLst/>
              <a:rect r="r" b="b" t="t" l="l"/>
              <a:pathLst>
                <a:path h="101272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1012726"/>
                  </a:lnTo>
                  <a:lnTo>
                    <a:pt x="0" y="1012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00" r="8827" b="-823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278343" cy="103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One drawer: impact, cause, trend, recidivism, the fix.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595" y="3478043"/>
            <a:ext cx="5172700" cy="1398757"/>
            <a:chOff x="0" y="0"/>
            <a:chExt cx="7509718" cy="20307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816805" y="3601017"/>
            <a:ext cx="3910036" cy="493663"/>
            <a:chOff x="0" y="0"/>
            <a:chExt cx="5676584" cy="7166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 plan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02314" y="4075630"/>
            <a:ext cx="4324528" cy="697567"/>
            <a:chOff x="0" y="0"/>
            <a:chExt cx="6278343" cy="101272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78343" cy="1012726"/>
            </a:xfrm>
            <a:custGeom>
              <a:avLst/>
              <a:gdLst/>
              <a:ahLst/>
              <a:cxnLst/>
              <a:rect r="r" b="b" t="t" l="l"/>
              <a:pathLst>
                <a:path h="101272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1012726"/>
                  </a:lnTo>
                  <a:lnTo>
                    <a:pt x="0" y="1012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00" r="8827" b="-823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78343" cy="103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Top spots grouped by the action they need.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18597" y="3478043"/>
            <a:ext cx="5172700" cy="1398757"/>
            <a:chOff x="0" y="0"/>
            <a:chExt cx="7509718" cy="203071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384808" y="3601017"/>
            <a:ext cx="3910036" cy="493663"/>
            <a:chOff x="0" y="0"/>
            <a:chExt cx="5676584" cy="7166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Trends &amp; offenders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970316" y="4075630"/>
            <a:ext cx="4324528" cy="697567"/>
            <a:chOff x="0" y="0"/>
            <a:chExt cx="6278343" cy="101272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78343" cy="1012726"/>
            </a:xfrm>
            <a:custGeom>
              <a:avLst/>
              <a:gdLst/>
              <a:ahLst/>
              <a:cxnLst/>
              <a:rect r="r" b="b" t="t" l="l"/>
              <a:pathLst>
                <a:path h="101272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1012726"/>
                  </a:lnTo>
                  <a:lnTo>
                    <a:pt x="0" y="1012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00" r="8827" b="-823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278343" cy="103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Emerging spots and repeat-offender intelligence.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86600" y="3478043"/>
            <a:ext cx="5172700" cy="1398757"/>
            <a:chOff x="0" y="0"/>
            <a:chExt cx="7509718" cy="203071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09718" cy="2030713"/>
            </a:xfrm>
            <a:custGeom>
              <a:avLst/>
              <a:gdLst/>
              <a:ahLst/>
              <a:cxnLst/>
              <a:rect r="r" b="b" t="t" l="l"/>
              <a:pathLst>
                <a:path h="2030713" w="7509718">
                  <a:moveTo>
                    <a:pt x="0" y="107542"/>
                  </a:moveTo>
                  <a:cubicBezTo>
                    <a:pt x="0" y="48135"/>
                    <a:pt x="81488" y="0"/>
                    <a:pt x="182060" y="0"/>
                  </a:cubicBezTo>
                  <a:lnTo>
                    <a:pt x="7327658" y="0"/>
                  </a:lnTo>
                  <a:cubicBezTo>
                    <a:pt x="7428230" y="0"/>
                    <a:pt x="7509718" y="48135"/>
                    <a:pt x="7509718" y="107542"/>
                  </a:cubicBezTo>
                  <a:lnTo>
                    <a:pt x="7509718" y="1923171"/>
                  </a:lnTo>
                  <a:cubicBezTo>
                    <a:pt x="7509718" y="1982578"/>
                    <a:pt x="7428230" y="2030713"/>
                    <a:pt x="7327658" y="2030713"/>
                  </a:cubicBezTo>
                  <a:lnTo>
                    <a:pt x="182060" y="2030713"/>
                  </a:lnTo>
                  <a:cubicBezTo>
                    <a:pt x="81488" y="2030713"/>
                    <a:pt x="0" y="1982578"/>
                    <a:pt x="0" y="192317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538319" y="3744872"/>
            <a:ext cx="221062" cy="219048"/>
            <a:chOff x="0" y="0"/>
            <a:chExt cx="320938" cy="31801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52810" y="3601017"/>
            <a:ext cx="3910036" cy="493663"/>
            <a:chOff x="0" y="0"/>
            <a:chExt cx="5676584" cy="7166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76585" cy="716699"/>
            </a:xfrm>
            <a:custGeom>
              <a:avLst/>
              <a:gdLst/>
              <a:ahLst/>
              <a:cxnLst/>
              <a:rect r="r" b="b" t="t" l="l"/>
              <a:pathLst>
                <a:path h="716699" w="5676585">
                  <a:moveTo>
                    <a:pt x="0" y="0"/>
                  </a:moveTo>
                  <a:lnTo>
                    <a:pt x="5676585" y="0"/>
                  </a:lnTo>
                  <a:lnTo>
                    <a:pt x="5676585" y="716699"/>
                  </a:lnTo>
                  <a:lnTo>
                    <a:pt x="0" y="7166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73" r="8827" b="-9174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676584" cy="726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GenAI assistant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538319" y="4075630"/>
            <a:ext cx="4324528" cy="697567"/>
            <a:chOff x="0" y="0"/>
            <a:chExt cx="6278343" cy="101272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78343" cy="1012726"/>
            </a:xfrm>
            <a:custGeom>
              <a:avLst/>
              <a:gdLst/>
              <a:ahLst/>
              <a:cxnLst/>
              <a:rect r="r" b="b" t="t" l="l"/>
              <a:pathLst>
                <a:path h="1012726" w="6278343">
                  <a:moveTo>
                    <a:pt x="0" y="0"/>
                  </a:moveTo>
                  <a:lnTo>
                    <a:pt x="6278343" y="0"/>
                  </a:lnTo>
                  <a:lnTo>
                    <a:pt x="6278343" y="1012726"/>
                  </a:lnTo>
                  <a:lnTo>
                    <a:pt x="0" y="10127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00" r="8827" b="-8236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6278343" cy="1031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Ask in plain language — answers from the data only.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38319" y="2115589"/>
            <a:ext cx="221062" cy="219048"/>
            <a:chOff x="0" y="0"/>
            <a:chExt cx="320938" cy="31801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970316" y="2115589"/>
            <a:ext cx="221062" cy="219048"/>
            <a:chOff x="0" y="0"/>
            <a:chExt cx="320938" cy="3180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970316" y="3744872"/>
            <a:ext cx="221062" cy="219048"/>
            <a:chOff x="0" y="0"/>
            <a:chExt cx="320938" cy="31801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02314" y="3744872"/>
            <a:ext cx="221062" cy="219048"/>
            <a:chOff x="0" y="0"/>
            <a:chExt cx="320938" cy="31801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5243" y="2115589"/>
            <a:ext cx="221062" cy="219048"/>
            <a:chOff x="0" y="0"/>
            <a:chExt cx="320938" cy="31801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0938" cy="318013"/>
            </a:xfrm>
            <a:custGeom>
              <a:avLst/>
              <a:gdLst/>
              <a:ahLst/>
              <a:cxnLst/>
              <a:rect r="r" b="b" t="t" l="l"/>
              <a:pathLst>
                <a:path h="318013" w="320938">
                  <a:moveTo>
                    <a:pt x="0" y="159007"/>
                  </a:moveTo>
                  <a:cubicBezTo>
                    <a:pt x="0" y="71222"/>
                    <a:pt x="71877" y="0"/>
                    <a:pt x="160469" y="0"/>
                  </a:cubicBezTo>
                  <a:cubicBezTo>
                    <a:pt x="249061" y="0"/>
                    <a:pt x="320938" y="71222"/>
                    <a:pt x="320938" y="159007"/>
                  </a:cubicBezTo>
                  <a:cubicBezTo>
                    <a:pt x="320938" y="246792"/>
                    <a:pt x="249061" y="318013"/>
                    <a:pt x="160469" y="318013"/>
                  </a:cubicBezTo>
                  <a:cubicBezTo>
                    <a:pt x="71877" y="318013"/>
                    <a:pt x="0" y="246792"/>
                    <a:pt x="0" y="159007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0120" y="5301234"/>
            <a:ext cx="137160" cy="137160"/>
            <a:chOff x="0" y="0"/>
            <a:chExt cx="182880" cy="182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34440" y="5143500"/>
            <a:ext cx="15087600" cy="438912"/>
            <a:chOff x="0" y="0"/>
            <a:chExt cx="2011680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GENAI LAYER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60120" y="5700522"/>
            <a:ext cx="837970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Ask the data in plain language.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50595" y="6491097"/>
            <a:ext cx="9894570" cy="3503760"/>
            <a:chOff x="0" y="0"/>
            <a:chExt cx="13192760" cy="467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192761" cy="4671680"/>
            </a:xfrm>
            <a:custGeom>
              <a:avLst/>
              <a:gdLst/>
              <a:ahLst/>
              <a:cxnLst/>
              <a:rect r="r" b="b" t="t" l="l"/>
              <a:pathLst>
                <a:path h="4671680" w="13192761">
                  <a:moveTo>
                    <a:pt x="0" y="95550"/>
                  </a:moveTo>
                  <a:cubicBezTo>
                    <a:pt x="0" y="42777"/>
                    <a:pt x="73914" y="0"/>
                    <a:pt x="165100" y="0"/>
                  </a:cubicBezTo>
                  <a:lnTo>
                    <a:pt x="13027661" y="0"/>
                  </a:lnTo>
                  <a:cubicBezTo>
                    <a:pt x="13118847" y="0"/>
                    <a:pt x="13192761" y="42777"/>
                    <a:pt x="13192761" y="95550"/>
                  </a:cubicBezTo>
                  <a:lnTo>
                    <a:pt x="13192761" y="4576130"/>
                  </a:lnTo>
                  <a:cubicBezTo>
                    <a:pt x="13192761" y="4628903"/>
                    <a:pt x="13118847" y="4671680"/>
                    <a:pt x="13027661" y="4671680"/>
                  </a:cubicBezTo>
                  <a:lnTo>
                    <a:pt x="165100" y="4671680"/>
                  </a:lnTo>
                  <a:cubicBezTo>
                    <a:pt x="73914" y="4671680"/>
                    <a:pt x="0" y="4628903"/>
                    <a:pt x="0" y="4576130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508760" y="6699394"/>
            <a:ext cx="1371600" cy="338203"/>
            <a:chOff x="0" y="0"/>
            <a:chExt cx="1828800" cy="45093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00" cy="450937"/>
            </a:xfrm>
            <a:custGeom>
              <a:avLst/>
              <a:gdLst/>
              <a:ahLst/>
              <a:cxnLst/>
              <a:rect r="r" b="b" t="t" l="l"/>
              <a:pathLst>
                <a:path h="450937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0937"/>
                  </a:lnTo>
                  <a:lnTo>
                    <a:pt x="0" y="4509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9" r="0" b="-3985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828800" cy="46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08760" y="6931269"/>
            <a:ext cx="8778240" cy="493663"/>
            <a:chOff x="0" y="0"/>
            <a:chExt cx="11704320" cy="65821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704320" cy="658217"/>
            </a:xfrm>
            <a:custGeom>
              <a:avLst/>
              <a:gdLst/>
              <a:ahLst/>
              <a:cxnLst/>
              <a:rect r="r" b="b" t="t" l="l"/>
              <a:pathLst>
                <a:path h="65821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58217"/>
                  </a:lnTo>
                  <a:lnTo>
                    <a:pt x="0" y="658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11" r="0" b="-30204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1704320" cy="677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“Top 3 delivery hotspots.”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08760" y="7453507"/>
            <a:ext cx="1371600" cy="338203"/>
            <a:chOff x="0" y="0"/>
            <a:chExt cx="1828800" cy="45093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28800" cy="450937"/>
            </a:xfrm>
            <a:custGeom>
              <a:avLst/>
              <a:gdLst/>
              <a:ahLst/>
              <a:cxnLst/>
              <a:rect r="r" b="b" t="t" l="l"/>
              <a:pathLst>
                <a:path h="450937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0937"/>
                  </a:lnTo>
                  <a:lnTo>
                    <a:pt x="0" y="4509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9" r="0" b="-3985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1828800" cy="469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CURB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08760" y="7501132"/>
            <a:ext cx="8915400" cy="1152181"/>
            <a:chOff x="0" y="0"/>
            <a:chExt cx="11887200" cy="153624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887200" cy="1536241"/>
            </a:xfrm>
            <a:custGeom>
              <a:avLst/>
              <a:gdLst/>
              <a:ahLst/>
              <a:cxnLst/>
              <a:rect r="r" b="b" t="t" l="l"/>
              <a:pathLst>
                <a:path h="1536241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536241"/>
                  </a:lnTo>
                  <a:lnTo>
                    <a:pt x="0" y="15362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98" r="0" b="-11624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1887200" cy="15552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Here are the top 3 by obstruction impact, leading with AS Char Street, Mysore Road (delivery overflow). Each opens a full profile with its recommended fix.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01616" y="8596054"/>
            <a:ext cx="8929688" cy="341666"/>
            <a:chOff x="0" y="0"/>
            <a:chExt cx="11906250" cy="4555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906250" cy="455555"/>
            </a:xfrm>
            <a:custGeom>
              <a:avLst/>
              <a:gdLst/>
              <a:ahLst/>
              <a:cxnLst/>
              <a:rect r="r" b="b" t="t" l="l"/>
              <a:pathLst>
                <a:path h="455555" w="11906250">
                  <a:moveTo>
                    <a:pt x="0" y="54243"/>
                  </a:moveTo>
                  <a:cubicBezTo>
                    <a:pt x="0" y="24255"/>
                    <a:pt x="41910" y="0"/>
                    <a:pt x="93726" y="0"/>
                  </a:cubicBezTo>
                  <a:lnTo>
                    <a:pt x="11812524" y="0"/>
                  </a:lnTo>
                  <a:cubicBezTo>
                    <a:pt x="11864340" y="0"/>
                    <a:pt x="11906250" y="24255"/>
                    <a:pt x="11906250" y="54243"/>
                  </a:cubicBezTo>
                  <a:lnTo>
                    <a:pt x="11906250" y="401312"/>
                  </a:lnTo>
                  <a:cubicBezTo>
                    <a:pt x="11906250" y="431300"/>
                    <a:pt x="11864340" y="455555"/>
                    <a:pt x="11812524" y="455555"/>
                  </a:cubicBezTo>
                  <a:lnTo>
                    <a:pt x="93726" y="455555"/>
                  </a:lnTo>
                  <a:cubicBezTo>
                    <a:pt x="41910" y="455555"/>
                    <a:pt x="0" y="431300"/>
                    <a:pt x="0" y="401312"/>
                  </a:cubicBezTo>
                  <a:close/>
                </a:path>
              </a:pathLst>
            </a:custGeom>
            <a:solidFill>
              <a:srgbClr val="241F17"/>
            </a:solidFill>
            <a:ln w="14288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783080" y="8558132"/>
            <a:ext cx="8503920" cy="402292"/>
            <a:chOff x="0" y="0"/>
            <a:chExt cx="11338560" cy="53638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338560" cy="536389"/>
            </a:xfrm>
            <a:custGeom>
              <a:avLst/>
              <a:gdLst/>
              <a:ahLst/>
              <a:cxnLst/>
              <a:rect r="r" b="b" t="t" l="l"/>
              <a:pathLst>
                <a:path h="536389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36389"/>
                  </a:lnTo>
                  <a:lnTo>
                    <a:pt x="0" y="536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89" r="0" b="-38348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1338560" cy="555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#59  AS Char Street, Mysore Road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01616" y="8992956"/>
            <a:ext cx="8929688" cy="341666"/>
            <a:chOff x="0" y="0"/>
            <a:chExt cx="11906250" cy="4555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906250" cy="455555"/>
            </a:xfrm>
            <a:custGeom>
              <a:avLst/>
              <a:gdLst/>
              <a:ahLst/>
              <a:cxnLst/>
              <a:rect r="r" b="b" t="t" l="l"/>
              <a:pathLst>
                <a:path h="455555" w="11906250">
                  <a:moveTo>
                    <a:pt x="0" y="54243"/>
                  </a:moveTo>
                  <a:cubicBezTo>
                    <a:pt x="0" y="24255"/>
                    <a:pt x="41910" y="0"/>
                    <a:pt x="93726" y="0"/>
                  </a:cubicBezTo>
                  <a:lnTo>
                    <a:pt x="11812524" y="0"/>
                  </a:lnTo>
                  <a:cubicBezTo>
                    <a:pt x="11864340" y="0"/>
                    <a:pt x="11906250" y="24255"/>
                    <a:pt x="11906250" y="54243"/>
                  </a:cubicBezTo>
                  <a:lnTo>
                    <a:pt x="11906250" y="401312"/>
                  </a:lnTo>
                  <a:cubicBezTo>
                    <a:pt x="11906250" y="431300"/>
                    <a:pt x="11864340" y="455555"/>
                    <a:pt x="11812524" y="455555"/>
                  </a:cubicBezTo>
                  <a:lnTo>
                    <a:pt x="93726" y="455555"/>
                  </a:lnTo>
                  <a:cubicBezTo>
                    <a:pt x="41910" y="455555"/>
                    <a:pt x="0" y="431300"/>
                    <a:pt x="0" y="401312"/>
                  </a:cubicBezTo>
                  <a:close/>
                </a:path>
              </a:pathLst>
            </a:custGeom>
            <a:solidFill>
              <a:srgbClr val="241F17"/>
            </a:solidFill>
            <a:ln w="14288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783080" y="8955033"/>
            <a:ext cx="8503920" cy="402292"/>
            <a:chOff x="0" y="0"/>
            <a:chExt cx="11338560" cy="53638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338560" cy="536389"/>
            </a:xfrm>
            <a:custGeom>
              <a:avLst/>
              <a:gdLst/>
              <a:ahLst/>
              <a:cxnLst/>
              <a:rect r="r" b="b" t="t" l="l"/>
              <a:pathLst>
                <a:path h="536389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36389"/>
                  </a:lnTo>
                  <a:lnTo>
                    <a:pt x="0" y="536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89" r="0" b="-38348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1338560" cy="555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#82  MBT Road, Devasandra Junction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01616" y="9389858"/>
            <a:ext cx="8929688" cy="341666"/>
            <a:chOff x="0" y="0"/>
            <a:chExt cx="11906250" cy="45555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906250" cy="455555"/>
            </a:xfrm>
            <a:custGeom>
              <a:avLst/>
              <a:gdLst/>
              <a:ahLst/>
              <a:cxnLst/>
              <a:rect r="r" b="b" t="t" l="l"/>
              <a:pathLst>
                <a:path h="455555" w="11906250">
                  <a:moveTo>
                    <a:pt x="0" y="54243"/>
                  </a:moveTo>
                  <a:cubicBezTo>
                    <a:pt x="0" y="24255"/>
                    <a:pt x="41910" y="0"/>
                    <a:pt x="93726" y="0"/>
                  </a:cubicBezTo>
                  <a:lnTo>
                    <a:pt x="11812524" y="0"/>
                  </a:lnTo>
                  <a:cubicBezTo>
                    <a:pt x="11864340" y="0"/>
                    <a:pt x="11906250" y="24255"/>
                    <a:pt x="11906250" y="54243"/>
                  </a:cubicBezTo>
                  <a:lnTo>
                    <a:pt x="11906250" y="401312"/>
                  </a:lnTo>
                  <a:cubicBezTo>
                    <a:pt x="11906250" y="431300"/>
                    <a:pt x="11864340" y="455555"/>
                    <a:pt x="11812524" y="455555"/>
                  </a:cubicBezTo>
                  <a:lnTo>
                    <a:pt x="93726" y="455555"/>
                  </a:lnTo>
                  <a:cubicBezTo>
                    <a:pt x="41910" y="455555"/>
                    <a:pt x="0" y="431300"/>
                    <a:pt x="0" y="401312"/>
                  </a:cubicBezTo>
                  <a:close/>
                </a:path>
              </a:pathLst>
            </a:custGeom>
            <a:solidFill>
              <a:srgbClr val="241F17"/>
            </a:solidFill>
            <a:ln w="14288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783080" y="9351935"/>
            <a:ext cx="8503920" cy="402292"/>
            <a:chOff x="0" y="0"/>
            <a:chExt cx="11338560" cy="53638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338560" cy="536389"/>
            </a:xfrm>
            <a:custGeom>
              <a:avLst/>
              <a:gdLst/>
              <a:ahLst/>
              <a:cxnLst/>
              <a:rect r="r" b="b" t="t" l="l"/>
              <a:pathLst>
                <a:path h="536389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36389"/>
                  </a:lnTo>
                  <a:lnTo>
                    <a:pt x="0" y="5363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89" r="0" b="-38348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11338560" cy="555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#84  Dr Rajkumar Puniya Bhoomi Rd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748637" y="5601462"/>
            <a:ext cx="6201839" cy="746273"/>
            <a:chOff x="0" y="0"/>
            <a:chExt cx="10638658" cy="12801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638658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638658">
                  <a:moveTo>
                    <a:pt x="0" y="0"/>
                  </a:moveTo>
                  <a:lnTo>
                    <a:pt x="10638658" y="0"/>
                  </a:lnTo>
                  <a:lnTo>
                    <a:pt x="106386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29520" b="-6412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0638658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Grounded only on the provided dataset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748637" y="6507651"/>
            <a:ext cx="6201839" cy="746273"/>
            <a:chOff x="0" y="0"/>
            <a:chExt cx="10638658" cy="12801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638658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638658">
                  <a:moveTo>
                    <a:pt x="0" y="0"/>
                  </a:moveTo>
                  <a:lnTo>
                    <a:pt x="10638658" y="0"/>
                  </a:lnTo>
                  <a:lnTo>
                    <a:pt x="106386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29520" b="-6412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10638658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Phrases results — never invents or computes new facts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748637" y="7413840"/>
            <a:ext cx="6201839" cy="746273"/>
            <a:chOff x="0" y="0"/>
            <a:chExt cx="10638658" cy="12801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638658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638658">
                  <a:moveTo>
                    <a:pt x="0" y="0"/>
                  </a:moveTo>
                  <a:lnTo>
                    <a:pt x="10638658" y="0"/>
                  </a:lnTo>
                  <a:lnTo>
                    <a:pt x="106386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29520" b="-6412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10638658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No external data, no web, no live retrieval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748637" y="8320029"/>
            <a:ext cx="6201839" cy="746273"/>
            <a:chOff x="0" y="0"/>
            <a:chExt cx="10638658" cy="12801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638658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638658">
                  <a:moveTo>
                    <a:pt x="0" y="0"/>
                  </a:moveTo>
                  <a:lnTo>
                    <a:pt x="10638658" y="0"/>
                  </a:lnTo>
                  <a:lnTo>
                    <a:pt x="106386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29520" b="-641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0638658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LLM use approved in writing by the organisers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1748637" y="9226218"/>
            <a:ext cx="6201839" cy="746273"/>
            <a:chOff x="0" y="0"/>
            <a:chExt cx="10638658" cy="12801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638658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638658">
                  <a:moveTo>
                    <a:pt x="0" y="0"/>
                  </a:moveTo>
                  <a:lnTo>
                    <a:pt x="10638658" y="0"/>
                  </a:lnTo>
                  <a:lnTo>
                    <a:pt x="106386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29520" b="-6412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10638658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Falls back to deterministic answers if offline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294844" y="5906019"/>
            <a:ext cx="137160" cy="137160"/>
            <a:chOff x="0" y="0"/>
            <a:chExt cx="182880" cy="1828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294844" y="6630814"/>
            <a:ext cx="137160" cy="137160"/>
            <a:chOff x="0" y="0"/>
            <a:chExt cx="182880" cy="1828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294844" y="7718397"/>
            <a:ext cx="137160" cy="137160"/>
            <a:chOff x="0" y="0"/>
            <a:chExt cx="182880" cy="1828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294844" y="8629727"/>
            <a:ext cx="137160" cy="137160"/>
            <a:chOff x="0" y="0"/>
            <a:chExt cx="182880" cy="1828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294844" y="9530775"/>
            <a:ext cx="137160" cy="137160"/>
            <a:chOff x="0" y="0"/>
            <a:chExt cx="182880" cy="1828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59892"/>
            <a:ext cx="137160" cy="137160"/>
            <a:chOff x="0" y="0"/>
            <a:chExt cx="18288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502158"/>
            <a:ext cx="15087600" cy="438912"/>
            <a:chOff x="0" y="0"/>
            <a:chExt cx="201168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TRUST &amp; TRANSPARENCY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0120" y="830580"/>
            <a:ext cx="164592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Honest by design. Built to be trusted.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0595" y="1602105"/>
            <a:ext cx="5135118" cy="1446407"/>
            <a:chOff x="0" y="0"/>
            <a:chExt cx="6846824" cy="1928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99032" y="1708435"/>
            <a:ext cx="4293108" cy="466381"/>
            <a:chOff x="0" y="0"/>
            <a:chExt cx="5724144" cy="6218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Provided dataset only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9032" y="2002541"/>
            <a:ext cx="4293108" cy="960151"/>
            <a:chOff x="0" y="0"/>
            <a:chExt cx="5724144" cy="128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24144" cy="1280201"/>
            </a:xfrm>
            <a:custGeom>
              <a:avLst/>
              <a:gdLst/>
              <a:ahLst/>
              <a:cxnLst/>
              <a:rect r="r" b="b" t="t" l="l"/>
              <a:pathLst>
                <a:path h="128020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201"/>
                  </a:lnTo>
                  <a:lnTo>
                    <a:pt x="0" y="1280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10" r="0" b="-478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724144" cy="1299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No external datasets. Severity &amp; footprint weights are transparent, self-defined constants.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78143" y="1602105"/>
            <a:ext cx="5135118" cy="1446407"/>
            <a:chOff x="0" y="0"/>
            <a:chExt cx="6846824" cy="1928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926580" y="1708435"/>
            <a:ext cx="4293108" cy="466381"/>
            <a:chOff x="0" y="0"/>
            <a:chExt cx="5724144" cy="6218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 index, not traffic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26580" y="2002541"/>
            <a:ext cx="4293108" cy="960151"/>
            <a:chOff x="0" y="0"/>
            <a:chExt cx="5724144" cy="12802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4144" cy="1280201"/>
            </a:xfrm>
            <a:custGeom>
              <a:avLst/>
              <a:gdLst/>
              <a:ahLst/>
              <a:cxnLst/>
              <a:rect r="r" b="b" t="t" l="l"/>
              <a:pathLst>
                <a:path h="128020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201"/>
                  </a:lnTo>
                  <a:lnTo>
                    <a:pt x="0" y="1280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10" r="0" b="-478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724144" cy="1299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Impact is a 0–100 prioritisation index, never a measured percentage of congestion.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05691" y="1602105"/>
            <a:ext cx="5135118" cy="1446407"/>
            <a:chOff x="0" y="0"/>
            <a:chExt cx="6846824" cy="19285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54128" y="1708435"/>
            <a:ext cx="4293108" cy="466381"/>
            <a:chOff x="0" y="0"/>
            <a:chExt cx="5724144" cy="6218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Retrospective, not forecast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54128" y="2128336"/>
            <a:ext cx="4293108" cy="752466"/>
            <a:chOff x="0" y="0"/>
            <a:chExt cx="5724144" cy="1003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24144" cy="1003288"/>
            </a:xfrm>
            <a:custGeom>
              <a:avLst/>
              <a:gdLst/>
              <a:ahLst/>
              <a:cxnLst/>
              <a:rect r="r" b="b" t="t" l="l"/>
              <a:pathLst>
                <a:path h="1003288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003288"/>
                  </a:lnTo>
                  <a:lnTo>
                    <a:pt x="0" y="1003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00" r="0" b="-8863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724144" cy="1022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Trends describe the data window; the unreliable hour-of-day field is unused.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595" y="3284089"/>
            <a:ext cx="5135118" cy="1446407"/>
            <a:chOff x="0" y="0"/>
            <a:chExt cx="6846824" cy="1928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99032" y="3390418"/>
            <a:ext cx="4293108" cy="466381"/>
            <a:chOff x="0" y="0"/>
            <a:chExt cx="5724144" cy="6218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prescription, not a label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99032" y="3684525"/>
            <a:ext cx="4293108" cy="960151"/>
            <a:chOff x="0" y="0"/>
            <a:chExt cx="5724144" cy="12802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24144" cy="1280201"/>
            </a:xfrm>
            <a:custGeom>
              <a:avLst/>
              <a:gdLst/>
              <a:ahLst/>
              <a:cxnLst/>
              <a:rect r="r" b="b" t="t" l="l"/>
              <a:pathLst>
                <a:path h="128020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201"/>
                  </a:lnTo>
                  <a:lnTo>
                    <a:pt x="0" y="1280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10" r="0" b="-478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724144" cy="1299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The recommended fix is our rules-based inference from the vehicle mix, not a data field.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78143" y="3284089"/>
            <a:ext cx="5135118" cy="1446407"/>
            <a:chOff x="0" y="0"/>
            <a:chExt cx="6846824" cy="19285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926580" y="3390418"/>
            <a:ext cx="4293108" cy="466381"/>
            <a:chOff x="0" y="0"/>
            <a:chExt cx="5724144" cy="62184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Fully reproducible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926580" y="3810512"/>
            <a:ext cx="4293108" cy="752466"/>
            <a:chOff x="0" y="0"/>
            <a:chExt cx="5724144" cy="1003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24144" cy="1003288"/>
            </a:xfrm>
            <a:custGeom>
              <a:avLst/>
              <a:gdLst/>
              <a:ahLst/>
              <a:cxnLst/>
              <a:rect r="r" b="b" t="t" l="l"/>
              <a:pathLst>
                <a:path h="1003288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003288"/>
                  </a:lnTo>
                  <a:lnTo>
                    <a:pt x="0" y="1003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00" r="0" b="-886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724144" cy="1022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Re-run the pipeline on new data and the whole site regenerates from the output.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05691" y="3284089"/>
            <a:ext cx="5135118" cy="1446407"/>
            <a:chOff x="0" y="0"/>
            <a:chExt cx="6846824" cy="19285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46824" cy="1928544"/>
            </a:xfrm>
            <a:custGeom>
              <a:avLst/>
              <a:gdLst/>
              <a:ahLst/>
              <a:cxnLst/>
              <a:rect r="r" b="b" t="t" l="l"/>
              <a:pathLst>
                <a:path h="1928544" w="6846824">
                  <a:moveTo>
                    <a:pt x="0" y="107132"/>
                  </a:moveTo>
                  <a:cubicBezTo>
                    <a:pt x="0" y="47951"/>
                    <a:pt x="74295" y="0"/>
                    <a:pt x="165989" y="0"/>
                  </a:cubicBezTo>
                  <a:lnTo>
                    <a:pt x="6680835" y="0"/>
                  </a:lnTo>
                  <a:cubicBezTo>
                    <a:pt x="6772528" y="0"/>
                    <a:pt x="6846824" y="47951"/>
                    <a:pt x="6846824" y="107132"/>
                  </a:cubicBezTo>
                  <a:lnTo>
                    <a:pt x="6846824" y="1821411"/>
                  </a:lnTo>
                  <a:cubicBezTo>
                    <a:pt x="6846824" y="1880592"/>
                    <a:pt x="6772528" y="1928544"/>
                    <a:pt x="6680835" y="1928544"/>
                  </a:cubicBezTo>
                  <a:lnTo>
                    <a:pt x="165989" y="1928544"/>
                  </a:lnTo>
                  <a:cubicBezTo>
                    <a:pt x="74295" y="1928543"/>
                    <a:pt x="0" y="1880592"/>
                    <a:pt x="0" y="1821411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454128" y="3390418"/>
            <a:ext cx="4293108" cy="466381"/>
            <a:chOff x="0" y="0"/>
            <a:chExt cx="5724144" cy="6218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24144" cy="621841"/>
            </a:xfrm>
            <a:custGeom>
              <a:avLst/>
              <a:gdLst/>
              <a:ahLst/>
              <a:cxnLst/>
              <a:rect r="r" b="b" t="t" l="l"/>
              <a:pathLst>
                <a:path h="621841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543" r="0" b="-1381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724144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Documented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54128" y="3810512"/>
            <a:ext cx="4293108" cy="752466"/>
            <a:chOff x="0" y="0"/>
            <a:chExt cx="5724144" cy="1003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24144" cy="1003288"/>
            </a:xfrm>
            <a:custGeom>
              <a:avLst/>
              <a:gdLst/>
              <a:ahLst/>
              <a:cxnLst/>
              <a:rect r="r" b="b" t="t" l="l"/>
              <a:pathLst>
                <a:path h="1003288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003288"/>
                  </a:lnTo>
                  <a:lnTo>
                    <a:pt x="0" y="1003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00" r="0" b="-8863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724144" cy="1022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A methodology page states every assumption in plain language.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" y="4993005"/>
            <a:ext cx="137160" cy="137160"/>
            <a:chOff x="0" y="0"/>
            <a:chExt cx="182880" cy="1828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" y="4835271"/>
            <a:ext cx="7370266" cy="438912"/>
            <a:chOff x="0" y="0"/>
            <a:chExt cx="9827021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827021" cy="585216"/>
            </a:xfrm>
            <a:custGeom>
              <a:avLst/>
              <a:gdLst/>
              <a:ahLst/>
              <a:cxnLst/>
              <a:rect r="r" b="b" t="t" l="l"/>
              <a:pathLst>
                <a:path h="585216" w="9827021">
                  <a:moveTo>
                    <a:pt x="0" y="0"/>
                  </a:moveTo>
                  <a:lnTo>
                    <a:pt x="9827021" y="0"/>
                  </a:lnTo>
                  <a:lnTo>
                    <a:pt x="982702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-104709" b="-61979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827021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FOR BTP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0120" y="5178971"/>
            <a:ext cx="729713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5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Not a list of problems </a:t>
            </a:r>
          </a:p>
          <a:p>
            <a:pPr algn="l">
              <a:lnSpc>
                <a:spcPts val="3288"/>
              </a:lnSpc>
            </a:pPr>
            <a:r>
              <a:rPr lang="en-US" sz="274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— a deployment plan.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60120" y="6207671"/>
            <a:ext cx="8229600" cy="548640"/>
            <a:chOff x="0" y="0"/>
            <a:chExt cx="109728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-83333" b="-48583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0972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What the top 100 priority spots need, grouped by action: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41398" y="6598196"/>
            <a:ext cx="968441" cy="740494"/>
            <a:chOff x="0" y="0"/>
            <a:chExt cx="1291255" cy="98732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60"/>
                </a:lnSpc>
              </a:pPr>
              <a:r>
                <a:rPr lang="en-US" sz="2800" b="true">
                  <a:solidFill>
                    <a:srgbClr val="B6A89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25048" y="6718173"/>
            <a:ext cx="3658556" cy="466381"/>
            <a:chOff x="0" y="0"/>
            <a:chExt cx="4878075" cy="62184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Ranked patrol dispatch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91209" y="6814287"/>
            <a:ext cx="4070270" cy="208246"/>
            <a:chOff x="0" y="0"/>
            <a:chExt cx="5427026" cy="27766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291209" y="6814287"/>
            <a:ext cx="4070270" cy="208246"/>
            <a:chOff x="0" y="0"/>
            <a:chExt cx="5427026" cy="27766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B6A89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341398" y="7077703"/>
            <a:ext cx="968441" cy="740494"/>
            <a:chOff x="0" y="0"/>
            <a:chExt cx="1291255" cy="98732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5AA0E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25048" y="7214760"/>
            <a:ext cx="3658556" cy="466381"/>
            <a:chOff x="0" y="0"/>
            <a:chExt cx="4878075" cy="62184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Park-and-ride + reroute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291209" y="7310874"/>
            <a:ext cx="4070270" cy="208246"/>
            <a:chOff x="0" y="0"/>
            <a:chExt cx="5427026" cy="27766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291209" y="7310874"/>
            <a:ext cx="4070270" cy="208246"/>
            <a:chOff x="0" y="0"/>
            <a:chExt cx="5427026" cy="27766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5AA0E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341398" y="7574290"/>
            <a:ext cx="968441" cy="740494"/>
            <a:chOff x="0" y="0"/>
            <a:chExt cx="1291255" cy="98732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B08A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26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25048" y="7711347"/>
            <a:ext cx="3658556" cy="466381"/>
            <a:chOff x="0" y="0"/>
            <a:chExt cx="4878075" cy="62184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Designated auto / cab stand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291209" y="7807460"/>
            <a:ext cx="4070270" cy="208246"/>
            <a:chOff x="0" y="0"/>
            <a:chExt cx="5427026" cy="27766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291209" y="7807460"/>
            <a:ext cx="3527567" cy="208246"/>
            <a:chOff x="0" y="0"/>
            <a:chExt cx="4703423" cy="27766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03423" cy="277662"/>
            </a:xfrm>
            <a:custGeom>
              <a:avLst/>
              <a:gdLst/>
              <a:ahLst/>
              <a:cxnLst/>
              <a:rect r="r" b="b" t="t" l="l"/>
              <a:pathLst>
                <a:path h="277662" w="4703423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4669504" y="0"/>
                  </a:lnTo>
                  <a:cubicBezTo>
                    <a:pt x="4688230" y="0"/>
                    <a:pt x="4703423" y="19134"/>
                    <a:pt x="4703423" y="42717"/>
                  </a:cubicBezTo>
                  <a:lnTo>
                    <a:pt x="4703423" y="234944"/>
                  </a:lnTo>
                  <a:cubicBezTo>
                    <a:pt x="4703423" y="258528"/>
                    <a:pt x="4688230" y="277662"/>
                    <a:pt x="4669504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B08AF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41398" y="8070877"/>
            <a:ext cx="968441" cy="740494"/>
            <a:chOff x="0" y="0"/>
            <a:chExt cx="1291255" cy="98732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E556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25048" y="8207934"/>
            <a:ext cx="3658556" cy="466381"/>
            <a:chOff x="0" y="0"/>
            <a:chExt cx="4878075" cy="62184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Bollards + enforcement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291209" y="8304047"/>
            <a:ext cx="4070270" cy="208246"/>
            <a:chOff x="0" y="0"/>
            <a:chExt cx="5427026" cy="2776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291209" y="8304047"/>
            <a:ext cx="1462994" cy="208246"/>
            <a:chOff x="0" y="0"/>
            <a:chExt cx="1950658" cy="2776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50658" cy="277662"/>
            </a:xfrm>
            <a:custGeom>
              <a:avLst/>
              <a:gdLst/>
              <a:ahLst/>
              <a:cxnLst/>
              <a:rect r="r" b="b" t="t" l="l"/>
              <a:pathLst>
                <a:path h="277662" w="1950658">
                  <a:moveTo>
                    <a:pt x="0" y="42717"/>
                  </a:moveTo>
                  <a:cubicBezTo>
                    <a:pt x="0" y="19134"/>
                    <a:pt x="18203" y="0"/>
                    <a:pt x="40639" y="0"/>
                  </a:cubicBezTo>
                  <a:lnTo>
                    <a:pt x="1910020" y="0"/>
                  </a:lnTo>
                  <a:cubicBezTo>
                    <a:pt x="1932455" y="0"/>
                    <a:pt x="1950658" y="19134"/>
                    <a:pt x="1950658" y="42717"/>
                  </a:cubicBezTo>
                  <a:lnTo>
                    <a:pt x="1950658" y="234944"/>
                  </a:lnTo>
                  <a:cubicBezTo>
                    <a:pt x="1950658" y="258528"/>
                    <a:pt x="1932455" y="277662"/>
                    <a:pt x="1910020" y="277662"/>
                  </a:cubicBezTo>
                  <a:lnTo>
                    <a:pt x="40639" y="277662"/>
                  </a:lnTo>
                  <a:cubicBezTo>
                    <a:pt x="1820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E5564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341398" y="8567464"/>
            <a:ext cx="968441" cy="740494"/>
            <a:chOff x="0" y="0"/>
            <a:chExt cx="1291255" cy="98732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0A93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525048" y="8704521"/>
            <a:ext cx="3658556" cy="466381"/>
            <a:chOff x="0" y="0"/>
            <a:chExt cx="4878075" cy="62184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Timed loading bay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291209" y="8800634"/>
            <a:ext cx="4070270" cy="208246"/>
            <a:chOff x="0" y="0"/>
            <a:chExt cx="5427026" cy="27766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291209" y="8800634"/>
            <a:ext cx="518279" cy="208246"/>
            <a:chOff x="0" y="0"/>
            <a:chExt cx="691038" cy="27766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91038" cy="277662"/>
            </a:xfrm>
            <a:custGeom>
              <a:avLst/>
              <a:gdLst/>
              <a:ahLst/>
              <a:cxnLst/>
              <a:rect r="r" b="b" t="t" l="l"/>
              <a:pathLst>
                <a:path h="277662" w="691038">
                  <a:moveTo>
                    <a:pt x="0" y="42717"/>
                  </a:moveTo>
                  <a:cubicBezTo>
                    <a:pt x="0" y="19134"/>
                    <a:pt x="19345" y="0"/>
                    <a:pt x="43190" y="0"/>
                  </a:cubicBezTo>
                  <a:lnTo>
                    <a:pt x="647849" y="0"/>
                  </a:lnTo>
                  <a:cubicBezTo>
                    <a:pt x="671693" y="0"/>
                    <a:pt x="691038" y="19134"/>
                    <a:pt x="691038" y="42717"/>
                  </a:cubicBezTo>
                  <a:lnTo>
                    <a:pt x="691038" y="234944"/>
                  </a:lnTo>
                  <a:cubicBezTo>
                    <a:pt x="691038" y="258528"/>
                    <a:pt x="671693" y="277662"/>
                    <a:pt x="647849" y="277662"/>
                  </a:cubicBezTo>
                  <a:lnTo>
                    <a:pt x="43190" y="277662"/>
                  </a:lnTo>
                  <a:cubicBezTo>
                    <a:pt x="19345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F0A93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341398" y="8998143"/>
            <a:ext cx="968441" cy="740494"/>
            <a:chOff x="0" y="0"/>
            <a:chExt cx="1291255" cy="98732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91255" cy="987326"/>
            </a:xfrm>
            <a:custGeom>
              <a:avLst/>
              <a:gdLst/>
              <a:ahLst/>
              <a:cxnLst/>
              <a:rect r="r" b="b" t="t" l="l"/>
              <a:pathLst>
                <a:path h="987326" w="1291255">
                  <a:moveTo>
                    <a:pt x="0" y="0"/>
                  </a:moveTo>
                  <a:lnTo>
                    <a:pt x="1291255" y="0"/>
                  </a:lnTo>
                  <a:lnTo>
                    <a:pt x="1291255" y="987326"/>
                  </a:lnTo>
                  <a:lnTo>
                    <a:pt x="0" y="987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24" t="0" r="-54591" b="738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1291255" cy="1006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46C08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525048" y="9135200"/>
            <a:ext cx="3658556" cy="466381"/>
            <a:chOff x="0" y="0"/>
            <a:chExt cx="4878075" cy="62184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78075" cy="621841"/>
            </a:xfrm>
            <a:custGeom>
              <a:avLst/>
              <a:gdLst/>
              <a:ahLst/>
              <a:cxnLst/>
              <a:rect r="r" b="b" t="t" l="l"/>
              <a:pathLst>
                <a:path h="621841" w="4878075">
                  <a:moveTo>
                    <a:pt x="0" y="0"/>
                  </a:moveTo>
                  <a:lnTo>
                    <a:pt x="4878075" y="0"/>
                  </a:lnTo>
                  <a:lnTo>
                    <a:pt x="4878075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11" r="-27466" b="-16835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4878075" cy="64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Paid / off-street study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5291209" y="9297221"/>
            <a:ext cx="4070270" cy="208246"/>
            <a:chOff x="0" y="0"/>
            <a:chExt cx="5427026" cy="27766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427027" cy="277662"/>
            </a:xfrm>
            <a:custGeom>
              <a:avLst/>
              <a:gdLst/>
              <a:ahLst/>
              <a:cxnLst/>
              <a:rect r="r" b="b" t="t" l="l"/>
              <a:pathLst>
                <a:path h="277662" w="5427027">
                  <a:moveTo>
                    <a:pt x="0" y="42717"/>
                  </a:moveTo>
                  <a:cubicBezTo>
                    <a:pt x="0" y="19134"/>
                    <a:pt x="15193" y="0"/>
                    <a:pt x="33919" y="0"/>
                  </a:cubicBezTo>
                  <a:lnTo>
                    <a:pt x="5393108" y="0"/>
                  </a:lnTo>
                  <a:cubicBezTo>
                    <a:pt x="5411834" y="0"/>
                    <a:pt x="5427027" y="19134"/>
                    <a:pt x="5427027" y="42717"/>
                  </a:cubicBezTo>
                  <a:lnTo>
                    <a:pt x="5427027" y="234944"/>
                  </a:lnTo>
                  <a:cubicBezTo>
                    <a:pt x="5427027" y="258528"/>
                    <a:pt x="5411834" y="277662"/>
                    <a:pt x="5393108" y="277662"/>
                  </a:cubicBezTo>
                  <a:lnTo>
                    <a:pt x="33919" y="277662"/>
                  </a:lnTo>
                  <a:cubicBezTo>
                    <a:pt x="15193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241F17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5291209" y="9297221"/>
            <a:ext cx="344858" cy="208246"/>
            <a:chOff x="0" y="0"/>
            <a:chExt cx="459810" cy="27766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59810" cy="277662"/>
            </a:xfrm>
            <a:custGeom>
              <a:avLst/>
              <a:gdLst/>
              <a:ahLst/>
              <a:cxnLst/>
              <a:rect r="r" b="b" t="t" l="l"/>
              <a:pathLst>
                <a:path h="277662" w="459810">
                  <a:moveTo>
                    <a:pt x="0" y="42717"/>
                  </a:moveTo>
                  <a:cubicBezTo>
                    <a:pt x="0" y="19134"/>
                    <a:pt x="19308" y="0"/>
                    <a:pt x="43107" y="0"/>
                  </a:cubicBezTo>
                  <a:lnTo>
                    <a:pt x="416703" y="0"/>
                  </a:lnTo>
                  <a:cubicBezTo>
                    <a:pt x="440502" y="0"/>
                    <a:pt x="459810" y="19134"/>
                    <a:pt x="459810" y="42717"/>
                  </a:cubicBezTo>
                  <a:lnTo>
                    <a:pt x="459810" y="234944"/>
                  </a:lnTo>
                  <a:cubicBezTo>
                    <a:pt x="459810" y="258528"/>
                    <a:pt x="440502" y="277662"/>
                    <a:pt x="416703" y="277662"/>
                  </a:cubicBezTo>
                  <a:lnTo>
                    <a:pt x="43107" y="277662"/>
                  </a:lnTo>
                  <a:cubicBezTo>
                    <a:pt x="19308" y="277661"/>
                    <a:pt x="0" y="258528"/>
                    <a:pt x="0" y="234944"/>
                  </a:cubicBezTo>
                  <a:close/>
                </a:path>
              </a:pathLst>
            </a:custGeom>
            <a:solidFill>
              <a:srgbClr val="46C08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50595" y="9588181"/>
            <a:ext cx="9912550" cy="548640"/>
            <a:chOff x="0" y="0"/>
            <a:chExt cx="13216734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216734" cy="731520"/>
            </a:xfrm>
            <a:custGeom>
              <a:avLst/>
              <a:gdLst/>
              <a:ahLst/>
              <a:cxnLst/>
              <a:rect r="r" b="b" t="t" l="l"/>
              <a:pathLst>
                <a:path h="731520" w="13216734">
                  <a:moveTo>
                    <a:pt x="0" y="0"/>
                  </a:moveTo>
                  <a:lnTo>
                    <a:pt x="13216734" y="0"/>
                  </a:lnTo>
                  <a:lnTo>
                    <a:pt x="1321673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-66044" b="-53455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1321673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F5B544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“Where to act first, why, and how” — in one screen.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952029" y="4986147"/>
            <a:ext cx="137160" cy="137160"/>
            <a:chOff x="0" y="0"/>
            <a:chExt cx="182880" cy="1828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B544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0187559" y="4842129"/>
            <a:ext cx="15087600" cy="438912"/>
            <a:chOff x="0" y="0"/>
            <a:chExt cx="20116800" cy="58521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20116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75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 TO ANY CITY</a:t>
              </a: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9952029" y="5261991"/>
            <a:ext cx="164592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ECE1D4"/>
                </a:solidFill>
                <a:latin typeface="Arial Bold"/>
                <a:ea typeface="Arial Bold"/>
                <a:cs typeface="Arial Bold"/>
                <a:sym typeface="Arial Bold"/>
              </a:rPr>
              <a:t>Reproducible by design.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9952029" y="5966841"/>
            <a:ext cx="1822233" cy="815062"/>
            <a:chOff x="0" y="0"/>
            <a:chExt cx="4963160" cy="22199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9631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4963160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4796663" y="0"/>
                  </a:lnTo>
                  <a:cubicBezTo>
                    <a:pt x="4888611" y="0"/>
                    <a:pt x="4963160" y="74549"/>
                    <a:pt x="4963160" y="166497"/>
                  </a:cubicBezTo>
                  <a:lnTo>
                    <a:pt x="4963160" y="2053463"/>
                  </a:lnTo>
                  <a:cubicBezTo>
                    <a:pt x="4963160" y="2145411"/>
                    <a:pt x="4888611" y="2219960"/>
                    <a:pt x="4796663" y="2219960"/>
                  </a:cubicBezTo>
                  <a:lnTo>
                    <a:pt x="166497" y="2219960"/>
                  </a:lnTo>
                  <a:cubicBezTo>
                    <a:pt x="74549" y="2219960"/>
                    <a:pt x="0" y="2145411"/>
                    <a:pt x="0" y="2053463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124553" y="5971504"/>
            <a:ext cx="1477184" cy="805737"/>
            <a:chOff x="0" y="0"/>
            <a:chExt cx="4023360" cy="21945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023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40233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Provided CSV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769599" y="5971504"/>
            <a:ext cx="241721" cy="805737"/>
            <a:chOff x="0" y="0"/>
            <a:chExt cx="658368" cy="21945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58368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678" t="0" r="-377678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658368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B544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006657" y="5966841"/>
            <a:ext cx="1822233" cy="815062"/>
            <a:chOff x="0" y="0"/>
            <a:chExt cx="4963160" cy="221996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9631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4963160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4796663" y="0"/>
                  </a:lnTo>
                  <a:cubicBezTo>
                    <a:pt x="4888611" y="0"/>
                    <a:pt x="4963160" y="74549"/>
                    <a:pt x="4963160" y="166497"/>
                  </a:cubicBezTo>
                  <a:lnTo>
                    <a:pt x="4963160" y="2053463"/>
                  </a:lnTo>
                  <a:cubicBezTo>
                    <a:pt x="4963160" y="2145411"/>
                    <a:pt x="4888611" y="2219960"/>
                    <a:pt x="4796663" y="2219960"/>
                  </a:cubicBezTo>
                  <a:lnTo>
                    <a:pt x="166497" y="2219960"/>
                  </a:lnTo>
                  <a:cubicBezTo>
                    <a:pt x="74549" y="2219960"/>
                    <a:pt x="0" y="2145411"/>
                    <a:pt x="0" y="2053463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2179182" y="5971504"/>
            <a:ext cx="1477184" cy="805737"/>
            <a:chOff x="0" y="0"/>
            <a:chExt cx="4023360" cy="21945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023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40233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pipeline (pandas)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824227" y="5971504"/>
            <a:ext cx="241721" cy="805737"/>
            <a:chOff x="0" y="0"/>
            <a:chExt cx="658368" cy="219456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58368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678" t="0" r="-377678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658368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B544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061286" y="5966841"/>
            <a:ext cx="1822233" cy="815062"/>
            <a:chOff x="0" y="0"/>
            <a:chExt cx="4963160" cy="22199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9631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4963160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4796663" y="0"/>
                  </a:lnTo>
                  <a:cubicBezTo>
                    <a:pt x="4888611" y="0"/>
                    <a:pt x="4963160" y="74549"/>
                    <a:pt x="4963160" y="166497"/>
                  </a:cubicBezTo>
                  <a:lnTo>
                    <a:pt x="4963160" y="2053463"/>
                  </a:lnTo>
                  <a:cubicBezTo>
                    <a:pt x="4963160" y="2145411"/>
                    <a:pt x="4888611" y="2219960"/>
                    <a:pt x="4796663" y="2219960"/>
                  </a:cubicBezTo>
                  <a:lnTo>
                    <a:pt x="166497" y="2219960"/>
                  </a:lnTo>
                  <a:cubicBezTo>
                    <a:pt x="74549" y="2219960"/>
                    <a:pt x="0" y="2145411"/>
                    <a:pt x="0" y="2053463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4233810" y="5971504"/>
            <a:ext cx="1477184" cy="805737"/>
            <a:chOff x="0" y="0"/>
            <a:chExt cx="4023360" cy="219456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023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40233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Ranked JSON outputs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5878856" y="5971504"/>
            <a:ext cx="241721" cy="805737"/>
            <a:chOff x="0" y="0"/>
            <a:chExt cx="658368" cy="21945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58368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7678" t="0" r="-377678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19050"/>
              <a:ext cx="658368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5B544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115914" y="5966841"/>
            <a:ext cx="1822233" cy="815062"/>
            <a:chOff x="0" y="0"/>
            <a:chExt cx="4963160" cy="221996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9631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4963160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4796663" y="0"/>
                  </a:lnTo>
                  <a:cubicBezTo>
                    <a:pt x="4888611" y="0"/>
                    <a:pt x="4963160" y="74549"/>
                    <a:pt x="4963160" y="166497"/>
                  </a:cubicBezTo>
                  <a:lnTo>
                    <a:pt x="4963160" y="2053463"/>
                  </a:lnTo>
                  <a:cubicBezTo>
                    <a:pt x="4963160" y="2145411"/>
                    <a:pt x="4888611" y="2219960"/>
                    <a:pt x="4796663" y="2219960"/>
                  </a:cubicBezTo>
                  <a:lnTo>
                    <a:pt x="166497" y="2219960"/>
                  </a:lnTo>
                  <a:cubicBezTo>
                    <a:pt x="74549" y="2219960"/>
                    <a:pt x="0" y="2145411"/>
                    <a:pt x="0" y="2053463"/>
                  </a:cubicBezTo>
                  <a:close/>
                </a:path>
              </a:pathLst>
            </a:custGeom>
            <a:solidFill>
              <a:srgbClr val="1B1610"/>
            </a:solidFill>
            <a:ln w="19050" cap="sq">
              <a:solidFill>
                <a:srgbClr val="3A3225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16288439" y="5971504"/>
            <a:ext cx="1477184" cy="805737"/>
            <a:chOff x="0" y="0"/>
            <a:chExt cx="4023360" cy="219456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023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19050"/>
              <a:ext cx="402336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CE1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Static site on Vercel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952029" y="6792923"/>
            <a:ext cx="8335971" cy="745937"/>
            <a:chOff x="0" y="0"/>
            <a:chExt cx="12262292" cy="109728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2262292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262292">
                  <a:moveTo>
                    <a:pt x="0" y="0"/>
                  </a:moveTo>
                  <a:lnTo>
                    <a:pt x="12262292" y="0"/>
                  </a:lnTo>
                  <a:lnTo>
                    <a:pt x="1226229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-78968" b="-33970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19050"/>
              <a:ext cx="12262292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7B8A2"/>
                  </a:solidFill>
                  <a:latin typeface="Arial"/>
                  <a:ea typeface="Arial"/>
                  <a:cs typeface="Arial"/>
                  <a:sym typeface="Arial"/>
                </a:rPr>
                <a:t>The serverless GenAI assistant runs on the same deployment. Feed in a new month of data, re-run, and every page reflects it — no manual edits.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2454128" y="7124922"/>
            <a:ext cx="5966460" cy="1673256"/>
            <a:chOff x="0" y="0"/>
            <a:chExt cx="7955280" cy="223100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955280" cy="2231008"/>
            </a:xfrm>
            <a:custGeom>
              <a:avLst/>
              <a:gdLst/>
              <a:ahLst/>
              <a:cxnLst/>
              <a:rect r="r" b="b" t="t" l="l"/>
              <a:pathLst>
                <a:path h="2231008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2231008"/>
                  </a:lnTo>
                  <a:lnTo>
                    <a:pt x="0" y="2231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81" r="-175862" b="-132653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7955280" cy="2250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20"/>
                </a:lnSpc>
              </a:pPr>
              <a:r>
                <a:rPr lang="en-US" sz="4100" b="true">
                  <a:solidFill>
                    <a:srgbClr val="9D8F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13,782 → </a:t>
              </a:r>
              <a:r>
                <a:rPr lang="en-US" sz="4100" b="true">
                  <a:solidFill>
                    <a:srgbClr val="F5B54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9980604" y="8293257"/>
            <a:ext cx="16459200" cy="685800"/>
            <a:chOff x="0" y="0"/>
            <a:chExt cx="21945600" cy="9144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19050"/>
              <a:ext cx="21945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ECE1D4"/>
                  </a:solidFill>
                  <a:latin typeface="Arial"/>
                  <a:ea typeface="Arial"/>
                  <a:cs typeface="Arial"/>
                  <a:sym typeface="Arial"/>
                </a:rPr>
                <a:t>CURB turns months of citations into one clear decision: where to act first, why, and how.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11466703" y="8941053"/>
            <a:ext cx="495677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Live Demo:</a:t>
            </a:r>
            <a:r>
              <a:rPr lang="en-US" sz="1599" u="sng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  <a:hlinkClick r:id="rId4" tooltip="https://curb-parking-intelligence.vercel.app"/>
              </a:rPr>
              <a:t> https://curb-parking-intelligence.vercel.app/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1043187" y="9341103"/>
            <a:ext cx="580380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Repo Link</a:t>
            </a:r>
            <a:r>
              <a:rPr lang="en-US" sz="1599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599" u="sng">
                <a:solidFill>
                  <a:srgbClr val="F0A93B"/>
                </a:solidFill>
                <a:latin typeface="Arial"/>
                <a:ea typeface="Arial"/>
                <a:cs typeface="Arial"/>
                <a:sym typeface="Arial"/>
                <a:hlinkClick r:id="rId5" tooltip="https://github.com/arpitraj18/curb-parking-intelligence"/>
              </a:rPr>
              <a:t>https://github.com/arpitraj18/curb-parking-intelligence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DAHNN_BJj2Q</dc:identifier>
  <dcterms:modified xsi:type="dcterms:W3CDTF">2011-08-01T06:04:30Z</dcterms:modified>
  <cp:revision>1</cp:revision>
  <dc:title>CURB_Ppt</dc:title>
</cp:coreProperties>
</file>